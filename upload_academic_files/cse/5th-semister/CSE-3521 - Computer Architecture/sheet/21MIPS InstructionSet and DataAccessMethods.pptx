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0"/>
  </p:notesMasterIdLst>
  <p:handoutMasterIdLst>
    <p:handoutMasterId r:id="rId31"/>
  </p:handoutMasterIdLst>
  <p:sldIdLst>
    <p:sldId id="284" r:id="rId2"/>
    <p:sldId id="257" r:id="rId3"/>
    <p:sldId id="259" r:id="rId4"/>
    <p:sldId id="260" r:id="rId5"/>
    <p:sldId id="261" r:id="rId6"/>
    <p:sldId id="262" r:id="rId7"/>
    <p:sldId id="263" r:id="rId8"/>
    <p:sldId id="264" r:id="rId9"/>
    <p:sldId id="265" r:id="rId10"/>
    <p:sldId id="266" r:id="rId11"/>
    <p:sldId id="268" r:id="rId12"/>
    <p:sldId id="269" r:id="rId13"/>
    <p:sldId id="267" r:id="rId14"/>
    <p:sldId id="270" r:id="rId15"/>
    <p:sldId id="271" r:id="rId16"/>
    <p:sldId id="272" r:id="rId17"/>
    <p:sldId id="285"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Times New Roman (Hebrew)" pitchFamily="18" charset="0"/>
        <a:ea typeface="+mn-ea"/>
        <a:cs typeface="Times New Roman (Hebrew)" pitchFamily="18" charset="0"/>
      </a:defRPr>
    </a:lvl1pPr>
    <a:lvl2pPr marL="457200" algn="l" rtl="0" eaLnBrk="0" fontAlgn="base" hangingPunct="0">
      <a:spcBef>
        <a:spcPct val="0"/>
      </a:spcBef>
      <a:spcAft>
        <a:spcPct val="0"/>
      </a:spcAft>
      <a:defRPr sz="2800" kern="1200">
        <a:solidFill>
          <a:schemeClr val="tx1"/>
        </a:solidFill>
        <a:latin typeface="Times New Roman (Hebrew)" pitchFamily="18" charset="0"/>
        <a:ea typeface="+mn-ea"/>
        <a:cs typeface="Times New Roman (Hebrew)" pitchFamily="18" charset="0"/>
      </a:defRPr>
    </a:lvl2pPr>
    <a:lvl3pPr marL="914400" algn="l" rtl="0" eaLnBrk="0" fontAlgn="base" hangingPunct="0">
      <a:spcBef>
        <a:spcPct val="0"/>
      </a:spcBef>
      <a:spcAft>
        <a:spcPct val="0"/>
      </a:spcAft>
      <a:defRPr sz="2800" kern="1200">
        <a:solidFill>
          <a:schemeClr val="tx1"/>
        </a:solidFill>
        <a:latin typeface="Times New Roman (Hebrew)" pitchFamily="18" charset="0"/>
        <a:ea typeface="+mn-ea"/>
        <a:cs typeface="Times New Roman (Hebrew)" pitchFamily="18" charset="0"/>
      </a:defRPr>
    </a:lvl3pPr>
    <a:lvl4pPr marL="1371600" algn="l" rtl="0" eaLnBrk="0" fontAlgn="base" hangingPunct="0">
      <a:spcBef>
        <a:spcPct val="0"/>
      </a:spcBef>
      <a:spcAft>
        <a:spcPct val="0"/>
      </a:spcAft>
      <a:defRPr sz="2800" kern="1200">
        <a:solidFill>
          <a:schemeClr val="tx1"/>
        </a:solidFill>
        <a:latin typeface="Times New Roman (Hebrew)" pitchFamily="18" charset="0"/>
        <a:ea typeface="+mn-ea"/>
        <a:cs typeface="Times New Roman (Hebrew)" pitchFamily="18" charset="0"/>
      </a:defRPr>
    </a:lvl4pPr>
    <a:lvl5pPr marL="1828800" algn="l" rtl="0" eaLnBrk="0" fontAlgn="base" hangingPunct="0">
      <a:spcBef>
        <a:spcPct val="0"/>
      </a:spcBef>
      <a:spcAft>
        <a:spcPct val="0"/>
      </a:spcAft>
      <a:defRPr sz="2800" kern="1200">
        <a:solidFill>
          <a:schemeClr val="tx1"/>
        </a:solidFill>
        <a:latin typeface="Times New Roman (Hebrew)" pitchFamily="18" charset="0"/>
        <a:ea typeface="+mn-ea"/>
        <a:cs typeface="Times New Roman (Hebrew)" pitchFamily="18" charset="0"/>
      </a:defRPr>
    </a:lvl5pPr>
    <a:lvl6pPr marL="2286000" algn="l" defTabSz="914400" rtl="0" eaLnBrk="1" latinLnBrk="0" hangingPunct="1">
      <a:defRPr sz="2800" kern="1200">
        <a:solidFill>
          <a:schemeClr val="tx1"/>
        </a:solidFill>
        <a:latin typeface="Times New Roman (Hebrew)" pitchFamily="18" charset="0"/>
        <a:ea typeface="+mn-ea"/>
        <a:cs typeface="Times New Roman (Hebrew)" pitchFamily="18" charset="0"/>
      </a:defRPr>
    </a:lvl6pPr>
    <a:lvl7pPr marL="2743200" algn="l" defTabSz="914400" rtl="0" eaLnBrk="1" latinLnBrk="0" hangingPunct="1">
      <a:defRPr sz="2800" kern="1200">
        <a:solidFill>
          <a:schemeClr val="tx1"/>
        </a:solidFill>
        <a:latin typeface="Times New Roman (Hebrew)" pitchFamily="18" charset="0"/>
        <a:ea typeface="+mn-ea"/>
        <a:cs typeface="Times New Roman (Hebrew)" pitchFamily="18" charset="0"/>
      </a:defRPr>
    </a:lvl7pPr>
    <a:lvl8pPr marL="3200400" algn="l" defTabSz="914400" rtl="0" eaLnBrk="1" latinLnBrk="0" hangingPunct="1">
      <a:defRPr sz="2800" kern="1200">
        <a:solidFill>
          <a:schemeClr val="tx1"/>
        </a:solidFill>
        <a:latin typeface="Times New Roman (Hebrew)" pitchFamily="18" charset="0"/>
        <a:ea typeface="+mn-ea"/>
        <a:cs typeface="Times New Roman (Hebrew)" pitchFamily="18" charset="0"/>
      </a:defRPr>
    </a:lvl8pPr>
    <a:lvl9pPr marL="3657600" algn="l" defTabSz="914400" rtl="0" eaLnBrk="1" latinLnBrk="0" hangingPunct="1">
      <a:defRPr sz="2800" kern="1200">
        <a:solidFill>
          <a:schemeClr val="tx1"/>
        </a:solidFill>
        <a:latin typeface="Times New Roman (Hebrew)" pitchFamily="18" charset="0"/>
        <a:ea typeface="+mn-ea"/>
        <a:cs typeface="Times New Roman (Hebrew)" pitchFamily="18"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596"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22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B604150-E054-CE6A-1480-C12E551E639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rtl="1">
              <a:defRPr sz="1200">
                <a:latin typeface="Times New Roman" pitchFamily="18" charset="0"/>
                <a:cs typeface="Times New Roman (Hebrew)" pitchFamily="18" charset="-79"/>
              </a:defRPr>
            </a:lvl1pPr>
          </a:lstStyle>
          <a:p>
            <a:pPr>
              <a:defRPr/>
            </a:pPr>
            <a:endParaRPr lang="en-US" altLang="en-US"/>
          </a:p>
        </p:txBody>
      </p:sp>
      <p:sp>
        <p:nvSpPr>
          <p:cNvPr id="3075" name="Rectangle 3">
            <a:extLst>
              <a:ext uri="{FF2B5EF4-FFF2-40B4-BE49-F238E27FC236}">
                <a16:creationId xmlns:a16="http://schemas.microsoft.com/office/drawing/2014/main" id="{DB9F42E9-9D05-F6A0-1009-1A2AE90B9C87}"/>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1">
              <a:defRPr sz="1200">
                <a:latin typeface="Times New Roman" pitchFamily="18" charset="0"/>
                <a:cs typeface="Times New Roman (Hebrew)" pitchFamily="18" charset="-79"/>
              </a:defRPr>
            </a:lvl1pPr>
          </a:lstStyle>
          <a:p>
            <a:pPr>
              <a:defRPr/>
            </a:pPr>
            <a:endParaRPr lang="en-US" altLang="en-US"/>
          </a:p>
        </p:txBody>
      </p:sp>
      <p:sp>
        <p:nvSpPr>
          <p:cNvPr id="3076" name="Rectangle 4">
            <a:extLst>
              <a:ext uri="{FF2B5EF4-FFF2-40B4-BE49-F238E27FC236}">
                <a16:creationId xmlns:a16="http://schemas.microsoft.com/office/drawing/2014/main" id="{591C779D-187D-3586-EFF4-22FB41A265A9}"/>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rtl="1">
              <a:defRPr sz="1200">
                <a:latin typeface="Times New Roman" pitchFamily="18" charset="0"/>
                <a:cs typeface="Times New Roman (Hebrew)" pitchFamily="18" charset="-79"/>
              </a:defRPr>
            </a:lvl1pPr>
          </a:lstStyle>
          <a:p>
            <a:pPr>
              <a:defRPr/>
            </a:pPr>
            <a:endParaRPr lang="en-US" altLang="en-US"/>
          </a:p>
        </p:txBody>
      </p:sp>
      <p:sp>
        <p:nvSpPr>
          <p:cNvPr id="3077" name="Rectangle 5">
            <a:extLst>
              <a:ext uri="{FF2B5EF4-FFF2-40B4-BE49-F238E27FC236}">
                <a16:creationId xmlns:a16="http://schemas.microsoft.com/office/drawing/2014/main" id="{94F5010C-AA6C-1683-E287-8D5CAF300E68}"/>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rtl="1">
              <a:defRPr sz="1200">
                <a:latin typeface="Times New Roman" panose="02020603050405020304" pitchFamily="18" charset="0"/>
              </a:defRPr>
            </a:lvl1pPr>
          </a:lstStyle>
          <a:p>
            <a:fld id="{10AA324D-F776-456F-85C4-628C7A9E0137}" type="slidenum">
              <a:rPr lang="he-IL"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60F08A82-4E58-8A2C-319B-E8F8DDF41E4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rtl="1">
              <a:defRPr sz="1200">
                <a:latin typeface="Times New Roman" pitchFamily="18" charset="0"/>
                <a:cs typeface="Times New Roman (Hebrew)" pitchFamily="18" charset="-79"/>
              </a:defRPr>
            </a:lvl1pPr>
          </a:lstStyle>
          <a:p>
            <a:pPr>
              <a:defRPr/>
            </a:pPr>
            <a:endParaRPr lang="en-US" altLang="en-US"/>
          </a:p>
        </p:txBody>
      </p:sp>
      <p:sp>
        <p:nvSpPr>
          <p:cNvPr id="5123" name="Rectangle 3">
            <a:extLst>
              <a:ext uri="{FF2B5EF4-FFF2-40B4-BE49-F238E27FC236}">
                <a16:creationId xmlns:a16="http://schemas.microsoft.com/office/drawing/2014/main" id="{E7C8B033-0444-2834-74D7-9F22F165F2D4}"/>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1">
              <a:defRPr sz="1200">
                <a:latin typeface="Times New Roman" pitchFamily="18" charset="0"/>
                <a:cs typeface="Times New Roman (Hebrew)" pitchFamily="18" charset="-79"/>
              </a:defRPr>
            </a:lvl1pPr>
          </a:lstStyle>
          <a:p>
            <a:pPr>
              <a:defRPr/>
            </a:pPr>
            <a:endParaRPr lang="en-US" altLang="en-US"/>
          </a:p>
        </p:txBody>
      </p:sp>
      <p:sp>
        <p:nvSpPr>
          <p:cNvPr id="30724" name="Rectangle 4">
            <a:extLst>
              <a:ext uri="{FF2B5EF4-FFF2-40B4-BE49-F238E27FC236}">
                <a16:creationId xmlns:a16="http://schemas.microsoft.com/office/drawing/2014/main" id="{0F694D79-A037-F552-7331-D805E5708814}"/>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325FB0FD-7134-0CAF-AD00-484F3CB1BACB}"/>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he-IL" noProof="0"/>
              <a:t>Click to edit Master text styles</a:t>
            </a:r>
          </a:p>
          <a:p>
            <a:pPr lvl="1"/>
            <a:r>
              <a:rPr lang="en-US" altLang="he-IL" noProof="0"/>
              <a:t>Second level</a:t>
            </a:r>
          </a:p>
          <a:p>
            <a:pPr lvl="2"/>
            <a:r>
              <a:rPr lang="en-US" altLang="he-IL" noProof="0"/>
              <a:t>Third level</a:t>
            </a:r>
          </a:p>
          <a:p>
            <a:pPr lvl="3"/>
            <a:r>
              <a:rPr lang="en-US" altLang="he-IL" noProof="0"/>
              <a:t>Fourth level</a:t>
            </a:r>
          </a:p>
          <a:p>
            <a:pPr lvl="4"/>
            <a:r>
              <a:rPr lang="en-US" altLang="he-IL" noProof="0"/>
              <a:t>Fifth level</a:t>
            </a:r>
            <a:endParaRPr lang="en-US" altLang="en-US" noProof="0"/>
          </a:p>
        </p:txBody>
      </p:sp>
      <p:sp>
        <p:nvSpPr>
          <p:cNvPr id="5126" name="Rectangle 6">
            <a:extLst>
              <a:ext uri="{FF2B5EF4-FFF2-40B4-BE49-F238E27FC236}">
                <a16:creationId xmlns:a16="http://schemas.microsoft.com/office/drawing/2014/main" id="{6DEDE7D8-D3C9-3234-A2D3-FC9D16ACEEAA}"/>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rtl="1">
              <a:defRPr sz="1200">
                <a:latin typeface="Times New Roman" pitchFamily="18" charset="0"/>
                <a:cs typeface="Times New Roman (Hebrew)" pitchFamily="18" charset="-79"/>
              </a:defRPr>
            </a:lvl1pPr>
          </a:lstStyle>
          <a:p>
            <a:pPr>
              <a:defRPr/>
            </a:pPr>
            <a:endParaRPr lang="en-US" altLang="en-US"/>
          </a:p>
        </p:txBody>
      </p:sp>
      <p:sp>
        <p:nvSpPr>
          <p:cNvPr id="5127" name="Rectangle 7">
            <a:extLst>
              <a:ext uri="{FF2B5EF4-FFF2-40B4-BE49-F238E27FC236}">
                <a16:creationId xmlns:a16="http://schemas.microsoft.com/office/drawing/2014/main" id="{654D1240-4EA4-AC36-83FC-EC03668798A3}"/>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rtl="1">
              <a:defRPr sz="1200">
                <a:latin typeface="Times New Roman" panose="02020603050405020304" pitchFamily="18" charset="0"/>
              </a:defRPr>
            </a:lvl1pPr>
          </a:lstStyle>
          <a:p>
            <a:fld id="{ADEB298D-2984-42A0-A7C0-3991E3AE7D86}" type="slidenum">
              <a:rPr lang="he-IL"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Times New Roman (Hebrew)" pitchFamily="18" charset="-79"/>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Times New Roman (Hebrew)" pitchFamily="18" charset="-79"/>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Times New Roman (Hebrew)" pitchFamily="18" charset="-79"/>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Times New Roman (Hebrew)" pitchFamily="18" charset="-79"/>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Times New Roman (Hebrew)" pitchFamily="18" charset="-79"/>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a:extLst>
              <a:ext uri="{FF2B5EF4-FFF2-40B4-BE49-F238E27FC236}">
                <a16:creationId xmlns:a16="http://schemas.microsoft.com/office/drawing/2014/main" id="{D2D66EB3-671A-829B-09F8-409F5B40DFF8}"/>
              </a:ext>
            </a:extLst>
          </p:cNvPr>
          <p:cNvSpPr>
            <a:spLocks noGrp="1" noChangeArrowheads="1"/>
          </p:cNvSpPr>
          <p:nvPr>
            <p:ph type="sldNum" sz="quarter" idx="10"/>
          </p:nvPr>
        </p:nvSpPr>
        <p:spPr>
          <a:ln/>
        </p:spPr>
        <p:txBody>
          <a:bodyPr/>
          <a:lstStyle>
            <a:lvl1pPr>
              <a:defRPr/>
            </a:lvl1pPr>
          </a:lstStyle>
          <a:p>
            <a:fld id="{21896E51-417A-411A-AAF8-2318F45EA2CF}" type="slidenum">
              <a:rPr lang="he-IL" altLang="en-US"/>
              <a:pPr/>
              <a:t>‹#›</a:t>
            </a:fld>
            <a:endParaRPr lang="en-US" altLang="en-US"/>
          </a:p>
        </p:txBody>
      </p:sp>
    </p:spTree>
    <p:extLst>
      <p:ext uri="{BB962C8B-B14F-4D97-AF65-F5344CB8AC3E}">
        <p14:creationId xmlns:p14="http://schemas.microsoft.com/office/powerpoint/2010/main" val="600979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24D386D-A050-6AB0-3D8D-6E2D8B8EE6CB}"/>
              </a:ext>
            </a:extLst>
          </p:cNvPr>
          <p:cNvSpPr>
            <a:spLocks noGrp="1" noChangeArrowheads="1"/>
          </p:cNvSpPr>
          <p:nvPr>
            <p:ph type="sldNum" sz="quarter" idx="10"/>
          </p:nvPr>
        </p:nvSpPr>
        <p:spPr>
          <a:ln/>
        </p:spPr>
        <p:txBody>
          <a:bodyPr/>
          <a:lstStyle>
            <a:lvl1pPr>
              <a:defRPr/>
            </a:lvl1pPr>
          </a:lstStyle>
          <a:p>
            <a:fld id="{ABC77323-284D-4F5C-91AE-3CC523D0B9E9}" type="slidenum">
              <a:rPr lang="he-IL" altLang="en-US"/>
              <a:pPr/>
              <a:t>‹#›</a:t>
            </a:fld>
            <a:endParaRPr lang="en-US" altLang="en-US"/>
          </a:p>
        </p:txBody>
      </p:sp>
    </p:spTree>
    <p:extLst>
      <p:ext uri="{BB962C8B-B14F-4D97-AF65-F5344CB8AC3E}">
        <p14:creationId xmlns:p14="http://schemas.microsoft.com/office/powerpoint/2010/main" val="372292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A7AFD2DE-89B0-BD8D-8553-198DAABD5276}"/>
              </a:ext>
            </a:extLst>
          </p:cNvPr>
          <p:cNvSpPr>
            <a:spLocks noGrp="1" noChangeArrowheads="1"/>
          </p:cNvSpPr>
          <p:nvPr>
            <p:ph type="sldNum" sz="quarter" idx="10"/>
          </p:nvPr>
        </p:nvSpPr>
        <p:spPr>
          <a:ln/>
        </p:spPr>
        <p:txBody>
          <a:bodyPr/>
          <a:lstStyle>
            <a:lvl1pPr>
              <a:defRPr/>
            </a:lvl1pPr>
          </a:lstStyle>
          <a:p>
            <a:fld id="{6D5C6860-ABBE-4C71-B655-36D119C03465}" type="slidenum">
              <a:rPr lang="he-IL" altLang="en-US"/>
              <a:pPr/>
              <a:t>‹#›</a:t>
            </a:fld>
            <a:endParaRPr lang="en-US" altLang="en-US"/>
          </a:p>
        </p:txBody>
      </p:sp>
    </p:spTree>
    <p:extLst>
      <p:ext uri="{BB962C8B-B14F-4D97-AF65-F5344CB8AC3E}">
        <p14:creationId xmlns:p14="http://schemas.microsoft.com/office/powerpoint/2010/main" val="105151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990600"/>
            <a:ext cx="42672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90600"/>
            <a:ext cx="42672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4DCF95B1-C907-B36E-36EA-D16934CC238D}"/>
              </a:ext>
            </a:extLst>
          </p:cNvPr>
          <p:cNvSpPr>
            <a:spLocks noGrp="1" noChangeArrowheads="1"/>
          </p:cNvSpPr>
          <p:nvPr>
            <p:ph type="sldNum" sz="quarter" idx="10"/>
          </p:nvPr>
        </p:nvSpPr>
        <p:spPr>
          <a:ln/>
        </p:spPr>
        <p:txBody>
          <a:bodyPr/>
          <a:lstStyle>
            <a:lvl1pPr>
              <a:defRPr/>
            </a:lvl1pPr>
          </a:lstStyle>
          <a:p>
            <a:fld id="{8441CBA7-7F26-4C28-9014-0E65A7E2857A}" type="slidenum">
              <a:rPr lang="he-IL" altLang="en-US"/>
              <a:pPr/>
              <a:t>‹#›</a:t>
            </a:fld>
            <a:endParaRPr lang="en-US" altLang="en-US"/>
          </a:p>
        </p:txBody>
      </p:sp>
    </p:spTree>
    <p:extLst>
      <p:ext uri="{BB962C8B-B14F-4D97-AF65-F5344CB8AC3E}">
        <p14:creationId xmlns:p14="http://schemas.microsoft.com/office/powerpoint/2010/main" val="3129314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4A17063-9EA8-77C6-CEEB-20B488C4BDA9}"/>
              </a:ext>
            </a:extLst>
          </p:cNvPr>
          <p:cNvSpPr>
            <a:spLocks noGrp="1" noChangeArrowheads="1"/>
          </p:cNvSpPr>
          <p:nvPr>
            <p:ph type="sldNum" sz="quarter" idx="10"/>
          </p:nvPr>
        </p:nvSpPr>
        <p:spPr>
          <a:ln/>
        </p:spPr>
        <p:txBody>
          <a:bodyPr/>
          <a:lstStyle>
            <a:lvl1pPr>
              <a:defRPr/>
            </a:lvl1pPr>
          </a:lstStyle>
          <a:p>
            <a:fld id="{7FE257E8-2A19-4243-BDAB-BFBA52E7A5B7}" type="slidenum">
              <a:rPr lang="he-IL" altLang="en-US"/>
              <a:pPr/>
              <a:t>‹#›</a:t>
            </a:fld>
            <a:endParaRPr lang="en-US" altLang="en-US"/>
          </a:p>
        </p:txBody>
      </p:sp>
    </p:spTree>
    <p:extLst>
      <p:ext uri="{BB962C8B-B14F-4D97-AF65-F5344CB8AC3E}">
        <p14:creationId xmlns:p14="http://schemas.microsoft.com/office/powerpoint/2010/main" val="546424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2F06CA01-1199-2801-35B3-A3936DD04523}"/>
              </a:ext>
            </a:extLst>
          </p:cNvPr>
          <p:cNvSpPr>
            <a:spLocks noGrp="1" noChangeArrowheads="1"/>
          </p:cNvSpPr>
          <p:nvPr>
            <p:ph type="sldNum" sz="quarter" idx="10"/>
          </p:nvPr>
        </p:nvSpPr>
        <p:spPr>
          <a:ln/>
        </p:spPr>
        <p:txBody>
          <a:bodyPr/>
          <a:lstStyle>
            <a:lvl1pPr>
              <a:defRPr/>
            </a:lvl1pPr>
          </a:lstStyle>
          <a:p>
            <a:fld id="{986C863A-BEA7-4226-A0D3-D4C04E83EADB}" type="slidenum">
              <a:rPr lang="he-IL" altLang="en-US"/>
              <a:pPr/>
              <a:t>‹#›</a:t>
            </a:fld>
            <a:endParaRPr lang="en-US" altLang="en-US"/>
          </a:p>
        </p:txBody>
      </p:sp>
    </p:spTree>
    <p:extLst>
      <p:ext uri="{BB962C8B-B14F-4D97-AF65-F5344CB8AC3E}">
        <p14:creationId xmlns:p14="http://schemas.microsoft.com/office/powerpoint/2010/main" val="3011335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FD836947-B752-04C5-6AD8-FD30734A506F}"/>
              </a:ext>
            </a:extLst>
          </p:cNvPr>
          <p:cNvSpPr>
            <a:spLocks noGrp="1" noChangeArrowheads="1"/>
          </p:cNvSpPr>
          <p:nvPr>
            <p:ph type="sldNum" sz="quarter" idx="10"/>
          </p:nvPr>
        </p:nvSpPr>
        <p:spPr>
          <a:ln/>
        </p:spPr>
        <p:txBody>
          <a:bodyPr/>
          <a:lstStyle>
            <a:lvl1pPr>
              <a:defRPr/>
            </a:lvl1pPr>
          </a:lstStyle>
          <a:p>
            <a:fld id="{21431AE7-DD80-4593-82EE-A1257467B47B}" type="slidenum">
              <a:rPr lang="he-IL" altLang="en-US"/>
              <a:pPr/>
              <a:t>‹#›</a:t>
            </a:fld>
            <a:endParaRPr lang="en-US" altLang="en-US"/>
          </a:p>
        </p:txBody>
      </p:sp>
    </p:spTree>
    <p:extLst>
      <p:ext uri="{BB962C8B-B14F-4D97-AF65-F5344CB8AC3E}">
        <p14:creationId xmlns:p14="http://schemas.microsoft.com/office/powerpoint/2010/main" val="35684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7B5FCB9-7989-9DFA-B66A-BD41D8F7FE77}"/>
              </a:ext>
            </a:extLst>
          </p:cNvPr>
          <p:cNvSpPr>
            <a:spLocks noGrp="1" noChangeArrowheads="1"/>
          </p:cNvSpPr>
          <p:nvPr>
            <p:ph type="sldNum" sz="quarter" idx="10"/>
          </p:nvPr>
        </p:nvSpPr>
        <p:spPr>
          <a:ln/>
        </p:spPr>
        <p:txBody>
          <a:bodyPr/>
          <a:lstStyle>
            <a:lvl1pPr>
              <a:defRPr/>
            </a:lvl1pPr>
          </a:lstStyle>
          <a:p>
            <a:fld id="{D3AD1999-21FB-4CAF-855A-21A8E1EA2FF6}" type="slidenum">
              <a:rPr lang="he-IL" altLang="en-US"/>
              <a:pPr/>
              <a:t>‹#›</a:t>
            </a:fld>
            <a:endParaRPr lang="en-US" altLang="en-US"/>
          </a:p>
        </p:txBody>
      </p:sp>
    </p:spTree>
    <p:extLst>
      <p:ext uri="{BB962C8B-B14F-4D97-AF65-F5344CB8AC3E}">
        <p14:creationId xmlns:p14="http://schemas.microsoft.com/office/powerpoint/2010/main" val="990598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9B7DC7B5-3A59-F4E2-6D72-A26BE274A51F}"/>
              </a:ext>
            </a:extLst>
          </p:cNvPr>
          <p:cNvSpPr>
            <a:spLocks noGrp="1" noChangeArrowheads="1"/>
          </p:cNvSpPr>
          <p:nvPr>
            <p:ph type="sldNum" sz="quarter" idx="10"/>
          </p:nvPr>
        </p:nvSpPr>
        <p:spPr>
          <a:ln/>
        </p:spPr>
        <p:txBody>
          <a:bodyPr/>
          <a:lstStyle>
            <a:lvl1pPr>
              <a:defRPr/>
            </a:lvl1pPr>
          </a:lstStyle>
          <a:p>
            <a:fld id="{E987F91B-5E4F-48A6-8283-083E13CAC992}" type="slidenum">
              <a:rPr lang="he-IL" altLang="en-US"/>
              <a:pPr/>
              <a:t>‹#›</a:t>
            </a:fld>
            <a:endParaRPr lang="en-US" altLang="en-US"/>
          </a:p>
        </p:txBody>
      </p:sp>
    </p:spTree>
    <p:extLst>
      <p:ext uri="{BB962C8B-B14F-4D97-AF65-F5344CB8AC3E}">
        <p14:creationId xmlns:p14="http://schemas.microsoft.com/office/powerpoint/2010/main" val="2878977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93DD84DD-AAAF-C662-2BDB-06D465AA6D9E}"/>
              </a:ext>
            </a:extLst>
          </p:cNvPr>
          <p:cNvSpPr>
            <a:spLocks noGrp="1" noChangeArrowheads="1"/>
          </p:cNvSpPr>
          <p:nvPr>
            <p:ph type="sldNum" sz="quarter" idx="10"/>
          </p:nvPr>
        </p:nvSpPr>
        <p:spPr>
          <a:ln/>
        </p:spPr>
        <p:txBody>
          <a:bodyPr/>
          <a:lstStyle>
            <a:lvl1pPr>
              <a:defRPr/>
            </a:lvl1pPr>
          </a:lstStyle>
          <a:p>
            <a:fld id="{A56A1424-C5E4-4D74-AC5B-B65ECC47E8AF}" type="slidenum">
              <a:rPr lang="he-IL" altLang="en-US"/>
              <a:pPr/>
              <a:t>‹#›</a:t>
            </a:fld>
            <a:endParaRPr lang="en-US" altLang="en-US"/>
          </a:p>
        </p:txBody>
      </p:sp>
    </p:spTree>
    <p:extLst>
      <p:ext uri="{BB962C8B-B14F-4D97-AF65-F5344CB8AC3E}">
        <p14:creationId xmlns:p14="http://schemas.microsoft.com/office/powerpoint/2010/main" val="2696160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228600"/>
            <a:ext cx="2171700" cy="6400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28600"/>
            <a:ext cx="6362700" cy="6400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2BAC5B26-F28F-1F00-3EF6-0AF66344B64C}"/>
              </a:ext>
            </a:extLst>
          </p:cNvPr>
          <p:cNvSpPr>
            <a:spLocks noGrp="1" noChangeArrowheads="1"/>
          </p:cNvSpPr>
          <p:nvPr>
            <p:ph type="sldNum" sz="quarter" idx="10"/>
          </p:nvPr>
        </p:nvSpPr>
        <p:spPr>
          <a:ln/>
        </p:spPr>
        <p:txBody>
          <a:bodyPr/>
          <a:lstStyle>
            <a:lvl1pPr>
              <a:defRPr/>
            </a:lvl1pPr>
          </a:lstStyle>
          <a:p>
            <a:fld id="{ADD0860D-F886-4F4B-9C94-98021FF16E72}" type="slidenum">
              <a:rPr lang="he-IL" altLang="en-US"/>
              <a:pPr/>
              <a:t>‹#›</a:t>
            </a:fld>
            <a:endParaRPr lang="en-US" altLang="en-US"/>
          </a:p>
        </p:txBody>
      </p:sp>
    </p:spTree>
    <p:extLst>
      <p:ext uri="{BB962C8B-B14F-4D97-AF65-F5344CB8AC3E}">
        <p14:creationId xmlns:p14="http://schemas.microsoft.com/office/powerpoint/2010/main" val="3773661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73BC0FA-1FB5-CF4B-9791-F6A644CE5E1C}"/>
              </a:ext>
            </a:extLst>
          </p:cNvPr>
          <p:cNvSpPr>
            <a:spLocks noGrp="1" noChangeArrowheads="1"/>
          </p:cNvSpPr>
          <p:nvPr>
            <p:ph type="title"/>
          </p:nvPr>
        </p:nvSpPr>
        <p:spPr bwMode="auto">
          <a:xfrm>
            <a:off x="304800" y="228600"/>
            <a:ext cx="853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he-IL"/>
              <a:t>Click to edit Master title style</a:t>
            </a:r>
          </a:p>
        </p:txBody>
      </p:sp>
      <p:sp>
        <p:nvSpPr>
          <p:cNvPr id="1027" name="Rectangle 3">
            <a:extLst>
              <a:ext uri="{FF2B5EF4-FFF2-40B4-BE49-F238E27FC236}">
                <a16:creationId xmlns:a16="http://schemas.microsoft.com/office/drawing/2014/main" id="{81FF511C-87C8-B9EE-EBD4-82D97FDBCEB9}"/>
              </a:ext>
            </a:extLst>
          </p:cNvPr>
          <p:cNvSpPr>
            <a:spLocks noGrp="1" noChangeArrowheads="1"/>
          </p:cNvSpPr>
          <p:nvPr>
            <p:ph type="body" idx="1"/>
          </p:nvPr>
        </p:nvSpPr>
        <p:spPr bwMode="auto">
          <a:xfrm>
            <a:off x="228600" y="990600"/>
            <a:ext cx="86868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he-IL"/>
              <a:t>Click to edit Master text styles</a:t>
            </a:r>
          </a:p>
          <a:p>
            <a:pPr lvl="1"/>
            <a:r>
              <a:rPr lang="en-US" altLang="he-IL"/>
              <a:t>Second level</a:t>
            </a:r>
          </a:p>
          <a:p>
            <a:pPr lvl="2"/>
            <a:r>
              <a:rPr lang="en-US" altLang="he-IL"/>
              <a:t>Third level</a:t>
            </a:r>
          </a:p>
          <a:p>
            <a:pPr lvl="3"/>
            <a:r>
              <a:rPr lang="en-US" altLang="he-IL"/>
              <a:t>Fourth level</a:t>
            </a:r>
          </a:p>
          <a:p>
            <a:pPr lvl="4"/>
            <a:r>
              <a:rPr lang="en-US" altLang="he-IL"/>
              <a:t>Fifth level</a:t>
            </a:r>
          </a:p>
        </p:txBody>
      </p:sp>
      <p:sp>
        <p:nvSpPr>
          <p:cNvPr id="1030" name="Rectangle 6">
            <a:extLst>
              <a:ext uri="{FF2B5EF4-FFF2-40B4-BE49-F238E27FC236}">
                <a16:creationId xmlns:a16="http://schemas.microsoft.com/office/drawing/2014/main" id="{32688E21-407C-AF77-993E-7238ED5F6273}"/>
              </a:ext>
            </a:extLst>
          </p:cNvPr>
          <p:cNvSpPr>
            <a:spLocks noGrp="1" noChangeArrowheads="1"/>
          </p:cNvSpPr>
          <p:nvPr>
            <p:ph type="sldNum" sz="quarter" idx="4"/>
          </p:nvPr>
        </p:nvSpPr>
        <p:spPr bwMode="auto">
          <a:xfrm>
            <a:off x="36576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800" b="1">
                <a:latin typeface="Arial" panose="020B0604020202020204" pitchFamily="34" charset="0"/>
              </a:defRPr>
            </a:lvl1pPr>
          </a:lstStyle>
          <a:p>
            <a:fld id="{BC850F38-AD69-4EEE-AB9C-DC99911D2754}" type="slidenum">
              <a:rPr lang="he-IL"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u="sng">
          <a:solidFill>
            <a:srgbClr val="FF00FF"/>
          </a:solidFill>
          <a:latin typeface="+mj-lt"/>
          <a:ea typeface="+mj-ea"/>
          <a:cs typeface="+mj-cs"/>
        </a:defRPr>
      </a:lvl1pPr>
      <a:lvl2pPr algn="ctr" rtl="0" eaLnBrk="0" fontAlgn="base" hangingPunct="0">
        <a:spcBef>
          <a:spcPct val="0"/>
        </a:spcBef>
        <a:spcAft>
          <a:spcPct val="0"/>
        </a:spcAft>
        <a:defRPr sz="4400" u="sng">
          <a:solidFill>
            <a:srgbClr val="FF00FF"/>
          </a:solidFill>
          <a:latin typeface="Arial" charset="0"/>
          <a:cs typeface="Times New Roman (Hebrew)" pitchFamily="18" charset="-79"/>
        </a:defRPr>
      </a:lvl2pPr>
      <a:lvl3pPr algn="ctr" rtl="0" eaLnBrk="0" fontAlgn="base" hangingPunct="0">
        <a:spcBef>
          <a:spcPct val="0"/>
        </a:spcBef>
        <a:spcAft>
          <a:spcPct val="0"/>
        </a:spcAft>
        <a:defRPr sz="4400" u="sng">
          <a:solidFill>
            <a:srgbClr val="FF00FF"/>
          </a:solidFill>
          <a:latin typeface="Arial" charset="0"/>
          <a:cs typeface="Times New Roman (Hebrew)" pitchFamily="18" charset="-79"/>
        </a:defRPr>
      </a:lvl3pPr>
      <a:lvl4pPr algn="ctr" rtl="0" eaLnBrk="0" fontAlgn="base" hangingPunct="0">
        <a:spcBef>
          <a:spcPct val="0"/>
        </a:spcBef>
        <a:spcAft>
          <a:spcPct val="0"/>
        </a:spcAft>
        <a:defRPr sz="4400" u="sng">
          <a:solidFill>
            <a:srgbClr val="FF00FF"/>
          </a:solidFill>
          <a:latin typeface="Arial" charset="0"/>
          <a:cs typeface="Times New Roman (Hebrew)" pitchFamily="18" charset="-79"/>
        </a:defRPr>
      </a:lvl4pPr>
      <a:lvl5pPr algn="ctr" rtl="0" eaLnBrk="0" fontAlgn="base" hangingPunct="0">
        <a:spcBef>
          <a:spcPct val="0"/>
        </a:spcBef>
        <a:spcAft>
          <a:spcPct val="0"/>
        </a:spcAft>
        <a:defRPr sz="4400" u="sng">
          <a:solidFill>
            <a:srgbClr val="FF00FF"/>
          </a:solidFill>
          <a:latin typeface="Arial" charset="0"/>
          <a:cs typeface="Times New Roman (Hebrew)" pitchFamily="18" charset="-79"/>
        </a:defRPr>
      </a:lvl5pPr>
      <a:lvl6pPr marL="457200" algn="ctr" rtl="0" eaLnBrk="0" fontAlgn="base" hangingPunct="0">
        <a:spcBef>
          <a:spcPct val="0"/>
        </a:spcBef>
        <a:spcAft>
          <a:spcPct val="0"/>
        </a:spcAft>
        <a:defRPr sz="4400" u="sng">
          <a:solidFill>
            <a:srgbClr val="FF00FF"/>
          </a:solidFill>
          <a:latin typeface="Arial" charset="0"/>
          <a:cs typeface="Times New Roman (Hebrew)" pitchFamily="18" charset="-79"/>
        </a:defRPr>
      </a:lvl6pPr>
      <a:lvl7pPr marL="914400" algn="ctr" rtl="0" eaLnBrk="0" fontAlgn="base" hangingPunct="0">
        <a:spcBef>
          <a:spcPct val="0"/>
        </a:spcBef>
        <a:spcAft>
          <a:spcPct val="0"/>
        </a:spcAft>
        <a:defRPr sz="4400" u="sng">
          <a:solidFill>
            <a:srgbClr val="FF00FF"/>
          </a:solidFill>
          <a:latin typeface="Arial" charset="0"/>
          <a:cs typeface="Times New Roman (Hebrew)" pitchFamily="18" charset="-79"/>
        </a:defRPr>
      </a:lvl7pPr>
      <a:lvl8pPr marL="1371600" algn="ctr" rtl="0" eaLnBrk="0" fontAlgn="base" hangingPunct="0">
        <a:spcBef>
          <a:spcPct val="0"/>
        </a:spcBef>
        <a:spcAft>
          <a:spcPct val="0"/>
        </a:spcAft>
        <a:defRPr sz="4400" u="sng">
          <a:solidFill>
            <a:srgbClr val="FF00FF"/>
          </a:solidFill>
          <a:latin typeface="Arial" charset="0"/>
          <a:cs typeface="Times New Roman (Hebrew)" pitchFamily="18" charset="-79"/>
        </a:defRPr>
      </a:lvl8pPr>
      <a:lvl9pPr marL="1828800" algn="ctr" rtl="0" eaLnBrk="0" fontAlgn="base" hangingPunct="0">
        <a:spcBef>
          <a:spcPct val="0"/>
        </a:spcBef>
        <a:spcAft>
          <a:spcPct val="0"/>
        </a:spcAft>
        <a:defRPr sz="4400" u="sng">
          <a:solidFill>
            <a:srgbClr val="FF00FF"/>
          </a:solidFill>
          <a:latin typeface="Arial" charset="0"/>
          <a:cs typeface="Times New Roman (Hebrew)" pitchFamily="18" charset="-79"/>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b="1">
          <a:solidFill>
            <a:schemeClr val="tx1"/>
          </a:solidFill>
          <a:latin typeface="+mn-lt"/>
          <a:cs typeface="+mn-cs"/>
        </a:defRPr>
      </a:lvl3pPr>
      <a:lvl4pPr marL="1600200" indent="-228600" algn="l" rtl="0" eaLnBrk="0" fontAlgn="base" hangingPunct="0">
        <a:spcBef>
          <a:spcPct val="20000"/>
        </a:spcBef>
        <a:spcAft>
          <a:spcPct val="0"/>
        </a:spcAft>
        <a:buChar char="–"/>
        <a:defRPr sz="2000" b="1">
          <a:solidFill>
            <a:schemeClr val="tx1"/>
          </a:solidFill>
          <a:latin typeface="+mn-lt"/>
          <a:cs typeface="+mn-cs"/>
        </a:defRPr>
      </a:lvl4pPr>
      <a:lvl5pPr marL="2057400" indent="-228600" algn="l" rtl="0" eaLnBrk="0" fontAlgn="base" hangingPunct="0">
        <a:spcBef>
          <a:spcPct val="20000"/>
        </a:spcBef>
        <a:spcAft>
          <a:spcPct val="0"/>
        </a:spcAft>
        <a:buChar char="»"/>
        <a:defRPr sz="2000" b="1">
          <a:solidFill>
            <a:schemeClr val="tx1"/>
          </a:solidFill>
          <a:latin typeface="+mn-lt"/>
          <a:cs typeface="+mn-cs"/>
        </a:defRPr>
      </a:lvl5pPr>
      <a:lvl6pPr marL="2514600" indent="-228600" algn="l" rtl="0" eaLnBrk="0" fontAlgn="base" hangingPunct="0">
        <a:spcBef>
          <a:spcPct val="20000"/>
        </a:spcBef>
        <a:spcAft>
          <a:spcPct val="0"/>
        </a:spcAft>
        <a:buChar char="»"/>
        <a:defRPr sz="2000" b="1">
          <a:solidFill>
            <a:schemeClr val="tx1"/>
          </a:solidFill>
          <a:latin typeface="+mn-lt"/>
          <a:cs typeface="+mn-cs"/>
        </a:defRPr>
      </a:lvl6pPr>
      <a:lvl7pPr marL="2971800" indent="-228600" algn="l" rtl="0" eaLnBrk="0" fontAlgn="base" hangingPunct="0">
        <a:spcBef>
          <a:spcPct val="20000"/>
        </a:spcBef>
        <a:spcAft>
          <a:spcPct val="0"/>
        </a:spcAft>
        <a:buChar char="»"/>
        <a:defRPr sz="2000" b="1">
          <a:solidFill>
            <a:schemeClr val="tx1"/>
          </a:solidFill>
          <a:latin typeface="+mn-lt"/>
          <a:cs typeface="+mn-cs"/>
        </a:defRPr>
      </a:lvl7pPr>
      <a:lvl8pPr marL="3429000" indent="-228600" algn="l" rtl="0" eaLnBrk="0" fontAlgn="base" hangingPunct="0">
        <a:spcBef>
          <a:spcPct val="20000"/>
        </a:spcBef>
        <a:spcAft>
          <a:spcPct val="0"/>
        </a:spcAft>
        <a:buChar char="»"/>
        <a:defRPr sz="2000" b="1">
          <a:solidFill>
            <a:schemeClr val="tx1"/>
          </a:solidFill>
          <a:latin typeface="+mn-lt"/>
          <a:cs typeface="+mn-cs"/>
        </a:defRPr>
      </a:lvl8pPr>
      <a:lvl9pPr marL="3886200" indent="-228600" algn="l" rtl="0" eaLnBrk="0" fontAlgn="base" hangingPunct="0">
        <a:spcBef>
          <a:spcPct val="20000"/>
        </a:spcBef>
        <a:spcAft>
          <a:spcPct val="0"/>
        </a:spcAft>
        <a:buChar char="»"/>
        <a:defRPr sz="2000" b="1">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6FD1DD-0B96-F453-E0CB-6667FABB2CD2}"/>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3FA2754F-551C-403C-BC19-9AB5C474B0AB}" type="slidenum">
              <a:rPr lang="he-IL" altLang="en-US" sz="1800">
                <a:latin typeface="Arial" panose="020B0604020202020204" pitchFamily="34" charset="0"/>
              </a:rPr>
              <a:pPr/>
              <a:t>1</a:t>
            </a:fld>
            <a:endParaRPr lang="en-US" altLang="en-US" sz="1800">
              <a:latin typeface="Arial" panose="020B0604020202020204" pitchFamily="34" charset="0"/>
            </a:endParaRPr>
          </a:p>
        </p:txBody>
      </p:sp>
      <p:sp>
        <p:nvSpPr>
          <p:cNvPr id="2051" name="Rectangle 2">
            <a:extLst>
              <a:ext uri="{FF2B5EF4-FFF2-40B4-BE49-F238E27FC236}">
                <a16:creationId xmlns:a16="http://schemas.microsoft.com/office/drawing/2014/main" id="{C5BA8D74-6BB6-99B7-F77D-A0BFC14A9E65}"/>
              </a:ext>
            </a:extLst>
          </p:cNvPr>
          <p:cNvSpPr>
            <a:spLocks noGrp="1" noChangeArrowheads="1"/>
          </p:cNvSpPr>
          <p:nvPr>
            <p:ph type="title"/>
          </p:nvPr>
        </p:nvSpPr>
        <p:spPr/>
        <p:txBody>
          <a:bodyPr/>
          <a:lstStyle/>
          <a:p>
            <a:r>
              <a:rPr lang="en-US" altLang="en-US"/>
              <a:t>The Instruction Set</a:t>
            </a:r>
            <a:endParaRPr lang="en-US" altLang="he-IL"/>
          </a:p>
        </p:txBody>
      </p:sp>
      <p:sp>
        <p:nvSpPr>
          <p:cNvPr id="2052" name="Rectangle 3">
            <a:extLst>
              <a:ext uri="{FF2B5EF4-FFF2-40B4-BE49-F238E27FC236}">
                <a16:creationId xmlns:a16="http://schemas.microsoft.com/office/drawing/2014/main" id="{4B27B62E-067C-DE5D-6CE7-E58DFA207532}"/>
              </a:ext>
            </a:extLst>
          </p:cNvPr>
          <p:cNvSpPr>
            <a:spLocks noGrp="1" noChangeArrowheads="1"/>
          </p:cNvSpPr>
          <p:nvPr>
            <p:ph type="body" idx="1"/>
          </p:nvPr>
        </p:nvSpPr>
        <p:spPr/>
        <p:txBody>
          <a:bodyPr/>
          <a:lstStyle/>
          <a:p>
            <a:r>
              <a:rPr lang="en-US" altLang="he-IL"/>
              <a:t>The words of a machine’s language are called </a:t>
            </a:r>
            <a:r>
              <a:rPr lang="en-US" altLang="he-IL" i="1"/>
              <a:t>instructions.</a:t>
            </a:r>
          </a:p>
          <a:p>
            <a:r>
              <a:rPr lang="en-US" altLang="he-IL"/>
              <a:t>It’s vocabulary </a:t>
            </a:r>
            <a:r>
              <a:rPr lang="en-US" altLang="he-IL">
                <a:cs typeface="Arial (Hebrew)" pitchFamily="34" charset="0"/>
              </a:rPr>
              <a:t>is called the </a:t>
            </a:r>
            <a:r>
              <a:rPr lang="en-US" altLang="he-IL" i="1">
                <a:cs typeface="Arial (Hebrew)" pitchFamily="34" charset="0"/>
              </a:rPr>
              <a:t>instruction set.</a:t>
            </a:r>
          </a:p>
          <a:p>
            <a:r>
              <a:rPr lang="en-US" altLang="he-IL">
                <a:cs typeface="Arial (Hebrew)" pitchFamily="34" charset="0"/>
              </a:rPr>
              <a:t>The instruction set we will study is the instruction set of the MIPS family of processors. Used mainly in the computers of Silicon Graphics but also in the products of Nintendo and Sony.</a:t>
            </a:r>
            <a:endParaRPr lang="en-US" altLang="he-IL"/>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1E456B-99CF-3559-2E4B-623A1279E4D9}"/>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EA1CE2DF-2235-428B-8E3D-1A66998287E5}" type="slidenum">
              <a:rPr lang="he-IL" altLang="en-US" sz="1800">
                <a:latin typeface="Arial" panose="020B0604020202020204" pitchFamily="34" charset="0"/>
              </a:rPr>
              <a:pPr/>
              <a:t>2</a:t>
            </a:fld>
            <a:endParaRPr lang="en-US" altLang="en-US" sz="1800">
              <a:latin typeface="Arial" panose="020B0604020202020204" pitchFamily="34" charset="0"/>
            </a:endParaRPr>
          </a:p>
        </p:txBody>
      </p:sp>
      <p:sp>
        <p:nvSpPr>
          <p:cNvPr id="3075" name="Rectangle 2050">
            <a:extLst>
              <a:ext uri="{FF2B5EF4-FFF2-40B4-BE49-F238E27FC236}">
                <a16:creationId xmlns:a16="http://schemas.microsoft.com/office/drawing/2014/main" id="{B1D98F0A-E29E-D8A4-D6A8-919DF7292D71}"/>
              </a:ext>
            </a:extLst>
          </p:cNvPr>
          <p:cNvSpPr>
            <a:spLocks noGrp="1" noChangeArrowheads="1"/>
          </p:cNvSpPr>
          <p:nvPr>
            <p:ph type="title"/>
          </p:nvPr>
        </p:nvSpPr>
        <p:spPr/>
        <p:txBody>
          <a:bodyPr/>
          <a:lstStyle/>
          <a:p>
            <a:r>
              <a:rPr lang="en-US" altLang="he-IL"/>
              <a:t>Addition &amp; Subtraction</a:t>
            </a:r>
          </a:p>
        </p:txBody>
      </p:sp>
      <p:sp>
        <p:nvSpPr>
          <p:cNvPr id="3076" name="Rectangle 2051">
            <a:extLst>
              <a:ext uri="{FF2B5EF4-FFF2-40B4-BE49-F238E27FC236}">
                <a16:creationId xmlns:a16="http://schemas.microsoft.com/office/drawing/2014/main" id="{85C8E8AF-2656-BD81-8BE8-9B6D0D850DDD}"/>
              </a:ext>
            </a:extLst>
          </p:cNvPr>
          <p:cNvSpPr>
            <a:spLocks noGrp="1" noChangeArrowheads="1"/>
          </p:cNvSpPr>
          <p:nvPr>
            <p:ph type="body" idx="1"/>
          </p:nvPr>
        </p:nvSpPr>
        <p:spPr>
          <a:xfrm>
            <a:off x="228600" y="1071563"/>
            <a:ext cx="8686800" cy="5557837"/>
          </a:xfrm>
        </p:spPr>
        <p:txBody>
          <a:bodyPr/>
          <a:lstStyle/>
          <a:p>
            <a:r>
              <a:rPr lang="en-US" altLang="he-IL" sz="2800"/>
              <a:t>Every computer must be able to perform arithmetic. In MIPS the notation for addition is:</a:t>
            </a:r>
            <a:br>
              <a:rPr lang="en-US" altLang="he-IL" sz="2800"/>
            </a:br>
            <a:r>
              <a:rPr lang="en-US" altLang="he-IL" sz="2800">
                <a:latin typeface="Courier New" panose="02070309020205020404" pitchFamily="49" charset="0"/>
              </a:rPr>
              <a:t>add a, b, c # a = b + c</a:t>
            </a:r>
          </a:p>
          <a:p>
            <a:r>
              <a:rPr lang="en-US" altLang="he-IL" sz="2800"/>
              <a:t>Each MIPS arithmetic instruction performs only one operation and must have exactly three variables. </a:t>
            </a:r>
          </a:p>
          <a:p>
            <a:r>
              <a:rPr lang="en-US" altLang="he-IL" sz="2800"/>
              <a:t>This conforms to the philosophy of keeping the hardware simple. This is the first of the 4 design principles: </a:t>
            </a:r>
            <a:r>
              <a:rPr lang="en-US" altLang="he-IL" sz="2800" b="1" i="1"/>
              <a:t>Simplicity favors regularity</a:t>
            </a:r>
            <a:r>
              <a:rPr lang="en-US" altLang="he-IL" sz="2800"/>
              <a:t>.</a:t>
            </a:r>
          </a:p>
          <a:p>
            <a:r>
              <a:rPr lang="en-US" altLang="he-IL" sz="2800"/>
              <a:t>The notation for subtraction is:</a:t>
            </a:r>
            <a:br>
              <a:rPr lang="en-US" altLang="he-IL" sz="2800"/>
            </a:br>
            <a:r>
              <a:rPr lang="en-US" altLang="he-IL" sz="2800">
                <a:latin typeface="Courier New" panose="02070309020205020404" pitchFamily="49" charset="0"/>
              </a:rPr>
              <a:t>sub a, b, c # a = b - c</a:t>
            </a:r>
            <a:br>
              <a:rPr lang="en-US" altLang="he-IL" sz="2800">
                <a:latin typeface="Courier New" panose="02070309020205020404" pitchFamily="49" charset="0"/>
              </a:rPr>
            </a:br>
            <a:r>
              <a:rPr lang="en-US" altLang="he-IL" sz="2800">
                <a:latin typeface="Courier New" panose="02070309020205020404" pitchFamily="49" charset="0"/>
              </a:rPr>
              <a:t>sub a, a, b # a = a - b</a:t>
            </a:r>
            <a:br>
              <a:rPr lang="en-US" altLang="he-IL" sz="2800">
                <a:latin typeface="Courier New" panose="02070309020205020404" pitchFamily="49" charset="0"/>
              </a:rPr>
            </a:br>
            <a:r>
              <a:rPr lang="en-US" altLang="he-IL" sz="2800">
                <a:latin typeface="Courier New" panose="02070309020205020404" pitchFamily="49" charset="0"/>
              </a:rPr>
              <a:t>sub b, a, a # b = 0</a:t>
            </a:r>
            <a:endParaRPr lang="en-US" altLang="he-IL"/>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E7BC152-D17F-ABB5-39DE-376EA4E31053}"/>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CC124798-0E7D-4F42-B47C-E509CEC84B9F}" type="slidenum">
              <a:rPr lang="he-IL" altLang="en-US" sz="1800">
                <a:latin typeface="Arial" panose="020B0604020202020204" pitchFamily="34" charset="0"/>
              </a:rPr>
              <a:pPr/>
              <a:t>3</a:t>
            </a:fld>
            <a:endParaRPr lang="en-US" altLang="en-US" sz="1800">
              <a:latin typeface="Arial" panose="020B0604020202020204" pitchFamily="34" charset="0"/>
            </a:endParaRPr>
          </a:p>
        </p:txBody>
      </p:sp>
      <p:sp>
        <p:nvSpPr>
          <p:cNvPr id="4099" name="Rectangle 2">
            <a:extLst>
              <a:ext uri="{FF2B5EF4-FFF2-40B4-BE49-F238E27FC236}">
                <a16:creationId xmlns:a16="http://schemas.microsoft.com/office/drawing/2014/main" id="{D748972C-7C20-58C2-AC5E-D2F5B1758A76}"/>
              </a:ext>
            </a:extLst>
          </p:cNvPr>
          <p:cNvSpPr>
            <a:spLocks noGrp="1" noChangeArrowheads="1"/>
          </p:cNvSpPr>
          <p:nvPr>
            <p:ph type="title"/>
          </p:nvPr>
        </p:nvSpPr>
        <p:spPr/>
        <p:txBody>
          <a:bodyPr/>
          <a:lstStyle/>
          <a:p>
            <a:r>
              <a:rPr lang="en-US" altLang="he-IL"/>
              <a:t>From C to Assembly</a:t>
            </a:r>
          </a:p>
        </p:txBody>
      </p:sp>
      <p:sp>
        <p:nvSpPr>
          <p:cNvPr id="4100" name="Rectangle 3">
            <a:extLst>
              <a:ext uri="{FF2B5EF4-FFF2-40B4-BE49-F238E27FC236}">
                <a16:creationId xmlns:a16="http://schemas.microsoft.com/office/drawing/2014/main" id="{CCA2DECF-563C-25A1-03F4-7EB022CB42A4}"/>
              </a:ext>
            </a:extLst>
          </p:cNvPr>
          <p:cNvSpPr>
            <a:spLocks noGrp="1" noChangeArrowheads="1"/>
          </p:cNvSpPr>
          <p:nvPr>
            <p:ph type="body" sz="half" idx="1"/>
          </p:nvPr>
        </p:nvSpPr>
        <p:spPr/>
        <p:txBody>
          <a:bodyPr/>
          <a:lstStyle/>
          <a:p>
            <a:pPr algn="ctr">
              <a:buFontTx/>
              <a:buNone/>
            </a:pPr>
            <a:r>
              <a:rPr lang="en-US" altLang="he-IL" sz="3200" u="sng"/>
              <a:t>C</a:t>
            </a:r>
            <a:endParaRPr lang="en-US" altLang="he-IL"/>
          </a:p>
          <a:p>
            <a:pPr>
              <a:buFontTx/>
              <a:buNone/>
            </a:pPr>
            <a:r>
              <a:rPr lang="en-US" altLang="he-IL">
                <a:latin typeface="Courier New" panose="02070309020205020404" pitchFamily="49" charset="0"/>
              </a:rPr>
              <a:t>a = b + c;</a:t>
            </a:r>
          </a:p>
          <a:p>
            <a:pPr>
              <a:buFontTx/>
              <a:buNone/>
            </a:pPr>
            <a:r>
              <a:rPr lang="en-US" altLang="he-IL">
                <a:latin typeface="Courier New" panose="02070309020205020404" pitchFamily="49" charset="0"/>
              </a:rPr>
              <a:t>d = a - e;</a:t>
            </a:r>
          </a:p>
          <a:p>
            <a:pPr>
              <a:buFontTx/>
              <a:buNone/>
            </a:pPr>
            <a:r>
              <a:rPr lang="en-US" altLang="he-IL"/>
              <a:t>A more complex statement</a:t>
            </a:r>
          </a:p>
          <a:p>
            <a:pPr>
              <a:buFontTx/>
              <a:buNone/>
            </a:pPr>
            <a:r>
              <a:rPr lang="en-US" altLang="he-IL">
                <a:latin typeface="Courier New" panose="02070309020205020404" pitchFamily="49" charset="0"/>
              </a:rPr>
              <a:t>f = (g + h) - </a:t>
            </a:r>
          </a:p>
          <a:p>
            <a:pPr>
              <a:buFontTx/>
              <a:buNone/>
            </a:pPr>
            <a:r>
              <a:rPr lang="en-US" altLang="he-IL">
                <a:latin typeface="Courier New" panose="02070309020205020404" pitchFamily="49" charset="0"/>
              </a:rPr>
              <a:t>    (i + j);</a:t>
            </a:r>
          </a:p>
        </p:txBody>
      </p:sp>
      <p:sp>
        <p:nvSpPr>
          <p:cNvPr id="4101" name="Rectangle 4">
            <a:extLst>
              <a:ext uri="{FF2B5EF4-FFF2-40B4-BE49-F238E27FC236}">
                <a16:creationId xmlns:a16="http://schemas.microsoft.com/office/drawing/2014/main" id="{224D153A-1012-061D-A4B4-64BC4DD9F0FC}"/>
              </a:ext>
            </a:extLst>
          </p:cNvPr>
          <p:cNvSpPr>
            <a:spLocks noGrp="1" noChangeArrowheads="1"/>
          </p:cNvSpPr>
          <p:nvPr>
            <p:ph type="body" sz="half" idx="2"/>
          </p:nvPr>
        </p:nvSpPr>
        <p:spPr/>
        <p:txBody>
          <a:bodyPr/>
          <a:lstStyle/>
          <a:p>
            <a:pPr algn="ctr">
              <a:buFontTx/>
              <a:buNone/>
            </a:pPr>
            <a:r>
              <a:rPr lang="en-US" altLang="he-IL" sz="3200" u="sng"/>
              <a:t>Assembly</a:t>
            </a:r>
          </a:p>
          <a:p>
            <a:pPr>
              <a:buFontTx/>
              <a:buNone/>
            </a:pPr>
            <a:r>
              <a:rPr lang="en-US" altLang="he-IL">
                <a:latin typeface="Courier New" panose="02070309020205020404" pitchFamily="49" charset="0"/>
              </a:rPr>
              <a:t>add a, b, c</a:t>
            </a:r>
          </a:p>
          <a:p>
            <a:pPr>
              <a:buFontTx/>
              <a:buNone/>
            </a:pPr>
            <a:r>
              <a:rPr lang="en-US" altLang="he-IL">
                <a:latin typeface="Courier New" panose="02070309020205020404" pitchFamily="49" charset="0"/>
              </a:rPr>
              <a:t>sub d, a, e</a:t>
            </a:r>
          </a:p>
          <a:p>
            <a:pPr>
              <a:buFontTx/>
              <a:buNone/>
            </a:pPr>
            <a:r>
              <a:rPr lang="en-US" altLang="he-IL"/>
              <a:t>Entails the use of temporary variables</a:t>
            </a:r>
            <a:endParaRPr lang="en-US" altLang="he-IL">
              <a:latin typeface="Courier New" panose="02070309020205020404" pitchFamily="49" charset="0"/>
            </a:endParaRPr>
          </a:p>
          <a:p>
            <a:pPr>
              <a:buFontTx/>
              <a:buNone/>
            </a:pPr>
            <a:r>
              <a:rPr lang="en-US" altLang="he-IL">
                <a:latin typeface="Courier New" panose="02070309020205020404" pitchFamily="49" charset="0"/>
              </a:rPr>
              <a:t>add t0, g, h</a:t>
            </a:r>
          </a:p>
          <a:p>
            <a:pPr>
              <a:buFontTx/>
              <a:buNone/>
            </a:pPr>
            <a:r>
              <a:rPr lang="en-US" altLang="he-IL">
                <a:latin typeface="Courier New" panose="02070309020205020404" pitchFamily="49" charset="0"/>
              </a:rPr>
              <a:t>add t1, i, j</a:t>
            </a:r>
          </a:p>
          <a:p>
            <a:pPr>
              <a:buFontTx/>
              <a:buNone/>
            </a:pPr>
            <a:r>
              <a:rPr lang="en-US" altLang="he-IL">
                <a:latin typeface="Courier New" panose="02070309020205020404" pitchFamily="49" charset="0"/>
              </a:rPr>
              <a:t>sub f, t0, t1</a:t>
            </a:r>
            <a:endParaRPr lang="en-US" altLang="he-IL" sz="3200" u="sng"/>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4B9503-94B5-2834-A23C-BF893716B26A}"/>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A031B34D-B31D-4DB3-B831-A6133C271EA8}" type="slidenum">
              <a:rPr lang="he-IL" altLang="en-US" sz="1800">
                <a:latin typeface="Arial" panose="020B0604020202020204" pitchFamily="34" charset="0"/>
              </a:rPr>
              <a:pPr/>
              <a:t>4</a:t>
            </a:fld>
            <a:endParaRPr lang="en-US" altLang="en-US" sz="1800">
              <a:latin typeface="Arial" panose="020B0604020202020204" pitchFamily="34" charset="0"/>
            </a:endParaRPr>
          </a:p>
        </p:txBody>
      </p:sp>
      <p:sp>
        <p:nvSpPr>
          <p:cNvPr id="5123" name="Rectangle 2">
            <a:extLst>
              <a:ext uri="{FF2B5EF4-FFF2-40B4-BE49-F238E27FC236}">
                <a16:creationId xmlns:a16="http://schemas.microsoft.com/office/drawing/2014/main" id="{472731C2-F630-0779-A5D8-5EB3C31C1DE6}"/>
              </a:ext>
            </a:extLst>
          </p:cNvPr>
          <p:cNvSpPr>
            <a:spLocks noGrp="1" noChangeArrowheads="1"/>
          </p:cNvSpPr>
          <p:nvPr>
            <p:ph type="title"/>
          </p:nvPr>
        </p:nvSpPr>
        <p:spPr/>
        <p:txBody>
          <a:bodyPr/>
          <a:lstStyle/>
          <a:p>
            <a:r>
              <a:rPr lang="en-US" altLang="he-IL"/>
              <a:t>Operands of the Computer</a:t>
            </a:r>
          </a:p>
        </p:txBody>
      </p:sp>
      <p:sp>
        <p:nvSpPr>
          <p:cNvPr id="5124" name="Rectangle 3">
            <a:extLst>
              <a:ext uri="{FF2B5EF4-FFF2-40B4-BE49-F238E27FC236}">
                <a16:creationId xmlns:a16="http://schemas.microsoft.com/office/drawing/2014/main" id="{95BC0CE2-D44B-EFB2-2EA5-54B6720F0D54}"/>
              </a:ext>
            </a:extLst>
          </p:cNvPr>
          <p:cNvSpPr>
            <a:spLocks noGrp="1" noChangeArrowheads="1"/>
          </p:cNvSpPr>
          <p:nvPr>
            <p:ph type="body" idx="1"/>
          </p:nvPr>
        </p:nvSpPr>
        <p:spPr/>
        <p:txBody>
          <a:bodyPr/>
          <a:lstStyle/>
          <a:p>
            <a:r>
              <a:rPr lang="en-US" altLang="he-IL" sz="2800"/>
              <a:t>Unlike programs in high-level languages the operands of arithmetic instructions can’t be any variable.</a:t>
            </a:r>
          </a:p>
          <a:p>
            <a:r>
              <a:rPr lang="en-US" altLang="he-IL" sz="2800"/>
              <a:t>They must be from a limited number of special variables called </a:t>
            </a:r>
            <a:r>
              <a:rPr lang="en-US" altLang="he-IL" sz="2800" b="1" i="1"/>
              <a:t>registers</a:t>
            </a:r>
            <a:r>
              <a:rPr lang="en-US" altLang="he-IL" sz="2800"/>
              <a:t>.</a:t>
            </a:r>
          </a:p>
          <a:p>
            <a:r>
              <a:rPr lang="en-US" altLang="he-IL" sz="2800"/>
              <a:t>The size of a register in the MIPS architecture is 32 bits. Groups of 32 bits are given the name </a:t>
            </a:r>
            <a:r>
              <a:rPr lang="en-US" altLang="he-IL" sz="2800" i="1"/>
              <a:t>word</a:t>
            </a:r>
            <a:r>
              <a:rPr lang="en-US" altLang="he-IL" sz="2800"/>
              <a:t> in MIPS.</a:t>
            </a:r>
          </a:p>
          <a:p>
            <a:r>
              <a:rPr lang="en-US" altLang="he-IL" sz="2800"/>
              <a:t>One major difference between the variables of a programming language and registers is the limited number of registers, typically 32 on current computers.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8D25A8-46DF-81CF-F50D-8AB7F75E9E21}"/>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8641EA9A-A19B-4841-8679-C0E3758D1E81}" type="slidenum">
              <a:rPr lang="he-IL" altLang="en-US" sz="1800">
                <a:latin typeface="Arial" panose="020B0604020202020204" pitchFamily="34" charset="0"/>
              </a:rPr>
              <a:pPr/>
              <a:t>5</a:t>
            </a:fld>
            <a:endParaRPr lang="en-US" altLang="en-US" sz="1800">
              <a:latin typeface="Arial" panose="020B0604020202020204" pitchFamily="34" charset="0"/>
            </a:endParaRPr>
          </a:p>
        </p:txBody>
      </p:sp>
      <p:sp>
        <p:nvSpPr>
          <p:cNvPr id="6147" name="Rectangle 2">
            <a:extLst>
              <a:ext uri="{FF2B5EF4-FFF2-40B4-BE49-F238E27FC236}">
                <a16:creationId xmlns:a16="http://schemas.microsoft.com/office/drawing/2014/main" id="{2889C269-F071-DCE3-ABAD-45FD964E3D75}"/>
              </a:ext>
            </a:extLst>
          </p:cNvPr>
          <p:cNvSpPr>
            <a:spLocks noGrp="1" noChangeArrowheads="1"/>
          </p:cNvSpPr>
          <p:nvPr>
            <p:ph type="title"/>
          </p:nvPr>
        </p:nvSpPr>
        <p:spPr/>
        <p:txBody>
          <a:bodyPr/>
          <a:lstStyle/>
          <a:p>
            <a:r>
              <a:rPr lang="en-US" altLang="he-IL"/>
              <a:t>Registers</a:t>
            </a:r>
          </a:p>
        </p:txBody>
      </p:sp>
      <p:sp>
        <p:nvSpPr>
          <p:cNvPr id="6148" name="Rectangle 3">
            <a:extLst>
              <a:ext uri="{FF2B5EF4-FFF2-40B4-BE49-F238E27FC236}">
                <a16:creationId xmlns:a16="http://schemas.microsoft.com/office/drawing/2014/main" id="{0F9C160E-52F1-E5A7-C961-C0DCD8B520D9}"/>
              </a:ext>
            </a:extLst>
          </p:cNvPr>
          <p:cNvSpPr>
            <a:spLocks noGrp="1" noChangeArrowheads="1"/>
          </p:cNvSpPr>
          <p:nvPr>
            <p:ph type="body" idx="1"/>
          </p:nvPr>
        </p:nvSpPr>
        <p:spPr/>
        <p:txBody>
          <a:bodyPr/>
          <a:lstStyle/>
          <a:p>
            <a:r>
              <a:rPr lang="en-US" altLang="he-IL" sz="2800"/>
              <a:t>Thus the 3 operands of the arithmetic instructions can be only registers.</a:t>
            </a:r>
          </a:p>
          <a:p>
            <a:r>
              <a:rPr lang="en-US" altLang="he-IL" sz="2800"/>
              <a:t>The reason for the limit to 32 registers is found in the second design principle:</a:t>
            </a:r>
            <a:br>
              <a:rPr lang="en-US" altLang="he-IL" sz="2800"/>
            </a:br>
            <a:r>
              <a:rPr lang="en-US" altLang="he-IL" sz="2800" b="1" i="1"/>
              <a:t>Smaller is faster</a:t>
            </a:r>
            <a:r>
              <a:rPr lang="en-US" altLang="he-IL" sz="2800" b="1"/>
              <a:t>.</a:t>
            </a:r>
          </a:p>
          <a:p>
            <a:r>
              <a:rPr lang="en-US" altLang="he-IL" sz="2800"/>
              <a:t>In MIPS the names of the registers are 2 characters following a $ sign. We will use </a:t>
            </a:r>
            <a:r>
              <a:rPr lang="en-US" altLang="he-IL" sz="2800">
                <a:latin typeface="Courier New" panose="02070309020205020404" pitchFamily="49" charset="0"/>
              </a:rPr>
              <a:t>$s0,$s1,…</a:t>
            </a:r>
            <a:r>
              <a:rPr lang="en-US" altLang="he-IL" sz="2800"/>
              <a:t> for C variables and </a:t>
            </a:r>
            <a:r>
              <a:rPr lang="en-US" altLang="he-IL" sz="2800">
                <a:latin typeface="Courier New" panose="02070309020205020404" pitchFamily="49" charset="0"/>
              </a:rPr>
              <a:t>$t0,$t1,…</a:t>
            </a:r>
            <a:r>
              <a:rPr lang="en-US" altLang="he-IL" sz="2800"/>
              <a:t> for temporary variables. </a:t>
            </a:r>
          </a:p>
          <a:p>
            <a:r>
              <a:rPr lang="en-US" altLang="he-IL" sz="2800">
                <a:latin typeface="Courier New" panose="02070309020205020404" pitchFamily="49" charset="0"/>
              </a:rPr>
              <a:t>f = (g + h) - (i + j);</a:t>
            </a:r>
            <a:r>
              <a:rPr lang="en-US" altLang="he-IL" sz="2800"/>
              <a:t> compiles into</a:t>
            </a:r>
            <a:br>
              <a:rPr lang="en-US" altLang="he-IL" sz="2800"/>
            </a:br>
            <a:r>
              <a:rPr lang="en-US" altLang="he-IL" sz="2800">
                <a:latin typeface="Courier New" panose="02070309020205020404" pitchFamily="49" charset="0"/>
              </a:rPr>
              <a:t>add $t0,$s1,$s2		# $t0 = g + h</a:t>
            </a:r>
            <a:br>
              <a:rPr lang="en-US" altLang="he-IL" sz="2800">
                <a:latin typeface="Courier New" panose="02070309020205020404" pitchFamily="49" charset="0"/>
              </a:rPr>
            </a:br>
            <a:r>
              <a:rPr lang="en-US" altLang="he-IL" sz="2800">
                <a:latin typeface="Courier New" panose="02070309020205020404" pitchFamily="49" charset="0"/>
              </a:rPr>
              <a:t>add $t1,$s3,$s4  	# $t1 = i + j</a:t>
            </a:r>
            <a:br>
              <a:rPr lang="en-US" altLang="he-IL" sz="2800">
                <a:latin typeface="Courier New" panose="02070309020205020404" pitchFamily="49" charset="0"/>
              </a:rPr>
            </a:br>
            <a:r>
              <a:rPr lang="en-US" altLang="he-IL" sz="2800">
                <a:latin typeface="Courier New" panose="02070309020205020404" pitchFamily="49" charset="0"/>
              </a:rPr>
              <a:t>sub $s0,$t0,$t1   	# $s0 = $t0 - $t1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F3A720F6-224B-00E8-01B9-0C2B5C53A788}"/>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75FB7660-B55C-44A2-8B8D-D6339BB91EB3}" type="slidenum">
              <a:rPr lang="he-IL" altLang="en-US" sz="1800">
                <a:latin typeface="Arial" panose="020B0604020202020204" pitchFamily="34" charset="0"/>
              </a:rPr>
              <a:pPr/>
              <a:t>6</a:t>
            </a:fld>
            <a:endParaRPr lang="en-US" altLang="en-US" sz="1800">
              <a:latin typeface="Arial" panose="020B0604020202020204" pitchFamily="34" charset="0"/>
            </a:endParaRPr>
          </a:p>
        </p:txBody>
      </p:sp>
      <p:sp>
        <p:nvSpPr>
          <p:cNvPr id="7171" name="Rectangle 2">
            <a:extLst>
              <a:ext uri="{FF2B5EF4-FFF2-40B4-BE49-F238E27FC236}">
                <a16:creationId xmlns:a16="http://schemas.microsoft.com/office/drawing/2014/main" id="{B26A4036-FC9E-B2D7-2FD6-0B62DB308792}"/>
              </a:ext>
            </a:extLst>
          </p:cNvPr>
          <p:cNvSpPr>
            <a:spLocks noGrp="1" noChangeArrowheads="1"/>
          </p:cNvSpPr>
          <p:nvPr>
            <p:ph type="title"/>
          </p:nvPr>
        </p:nvSpPr>
        <p:spPr/>
        <p:txBody>
          <a:bodyPr/>
          <a:lstStyle/>
          <a:p>
            <a:r>
              <a:rPr lang="en-US" altLang="he-IL"/>
              <a:t>Memory</a:t>
            </a:r>
          </a:p>
        </p:txBody>
      </p:sp>
      <p:sp>
        <p:nvSpPr>
          <p:cNvPr id="7172" name="Rectangle 3">
            <a:extLst>
              <a:ext uri="{FF2B5EF4-FFF2-40B4-BE49-F238E27FC236}">
                <a16:creationId xmlns:a16="http://schemas.microsoft.com/office/drawing/2014/main" id="{5F4BDBCE-6392-75CC-F25A-81D5D3C8B497}"/>
              </a:ext>
            </a:extLst>
          </p:cNvPr>
          <p:cNvSpPr>
            <a:spLocks noGrp="1" noChangeArrowheads="1"/>
          </p:cNvSpPr>
          <p:nvPr>
            <p:ph type="body" idx="1"/>
          </p:nvPr>
        </p:nvSpPr>
        <p:spPr/>
        <p:txBody>
          <a:bodyPr/>
          <a:lstStyle/>
          <a:p>
            <a:r>
              <a:rPr lang="en-US" altLang="he-IL" sz="2800"/>
              <a:t>But if there are only 32 registers where do we store the rest of the variables?</a:t>
            </a:r>
          </a:p>
          <a:p>
            <a:r>
              <a:rPr lang="en-US" altLang="he-IL" sz="2800"/>
              <a:t>In one of the 5 components - In Memory. The main memory of the computer contains millions of data elements.</a:t>
            </a:r>
          </a:p>
          <a:p>
            <a:r>
              <a:rPr lang="en-US" altLang="he-IL" sz="2800"/>
              <a:t>Memory is just a large</a:t>
            </a:r>
            <a:br>
              <a:rPr lang="en-US" altLang="he-IL" sz="2800"/>
            </a:br>
            <a:r>
              <a:rPr lang="en-US" altLang="he-IL" sz="2800"/>
              <a:t>1-dimensional array.</a:t>
            </a:r>
            <a:br>
              <a:rPr lang="en-US" altLang="he-IL" sz="2800"/>
            </a:br>
            <a:r>
              <a:rPr lang="en-US" altLang="he-IL" sz="2800"/>
              <a:t>For example the address</a:t>
            </a:r>
            <a:br>
              <a:rPr lang="en-US" altLang="he-IL" sz="2800"/>
            </a:br>
            <a:r>
              <a:rPr lang="en-US" altLang="he-IL" sz="2800"/>
              <a:t>of the 3rd data element is</a:t>
            </a:r>
            <a:br>
              <a:rPr lang="en-US" altLang="he-IL" sz="2800"/>
            </a:br>
            <a:r>
              <a:rPr lang="en-US" altLang="he-IL" sz="2800"/>
              <a:t>2 and the value of </a:t>
            </a:r>
            <a:br>
              <a:rPr lang="en-US" altLang="he-IL" sz="2800"/>
            </a:br>
            <a:r>
              <a:rPr lang="en-US" altLang="he-IL" sz="2800"/>
              <a:t>Memory[2] is 10.</a:t>
            </a:r>
          </a:p>
        </p:txBody>
      </p:sp>
      <p:pic>
        <p:nvPicPr>
          <p:cNvPr id="7173" name="Picture 4" descr="C:\Donny\JCT\ca\F0302.WMF">
            <a:extLst>
              <a:ext uri="{FF2B5EF4-FFF2-40B4-BE49-F238E27FC236}">
                <a16:creationId xmlns:a16="http://schemas.microsoft.com/office/drawing/2014/main" id="{799DEC27-5F72-8CBA-1270-0C8F07A2E1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3048000"/>
            <a:ext cx="3810000" cy="321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CFE7FB-C425-07E9-AA59-803C3830CDF5}"/>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FD1103EA-09B1-4B7A-8B2B-32DA2DF44B61}" type="slidenum">
              <a:rPr lang="he-IL" altLang="en-US" sz="1800">
                <a:latin typeface="Arial" panose="020B0604020202020204" pitchFamily="34" charset="0"/>
              </a:rPr>
              <a:pPr/>
              <a:t>7</a:t>
            </a:fld>
            <a:endParaRPr lang="en-US" altLang="en-US" sz="1800">
              <a:latin typeface="Arial" panose="020B0604020202020204" pitchFamily="34" charset="0"/>
            </a:endParaRPr>
          </a:p>
        </p:txBody>
      </p:sp>
      <p:sp>
        <p:nvSpPr>
          <p:cNvPr id="8195" name="Rectangle 2">
            <a:extLst>
              <a:ext uri="{FF2B5EF4-FFF2-40B4-BE49-F238E27FC236}">
                <a16:creationId xmlns:a16="http://schemas.microsoft.com/office/drawing/2014/main" id="{A3FE847A-9570-C2B2-D418-3AAFE17430FC}"/>
              </a:ext>
            </a:extLst>
          </p:cNvPr>
          <p:cNvSpPr>
            <a:spLocks noGrp="1" noChangeArrowheads="1"/>
          </p:cNvSpPr>
          <p:nvPr>
            <p:ph type="title"/>
          </p:nvPr>
        </p:nvSpPr>
        <p:spPr/>
        <p:txBody>
          <a:bodyPr/>
          <a:lstStyle/>
          <a:p>
            <a:r>
              <a:rPr lang="en-US" altLang="he-IL"/>
              <a:t>The Load Instruction</a:t>
            </a:r>
          </a:p>
        </p:txBody>
      </p:sp>
      <p:sp>
        <p:nvSpPr>
          <p:cNvPr id="8196" name="Rectangle 3">
            <a:extLst>
              <a:ext uri="{FF2B5EF4-FFF2-40B4-BE49-F238E27FC236}">
                <a16:creationId xmlns:a16="http://schemas.microsoft.com/office/drawing/2014/main" id="{1D24458B-A20E-E1B1-24AE-16D7B9F2EA60}"/>
              </a:ext>
            </a:extLst>
          </p:cNvPr>
          <p:cNvSpPr>
            <a:spLocks noGrp="1" noChangeArrowheads="1"/>
          </p:cNvSpPr>
          <p:nvPr>
            <p:ph type="body" idx="1"/>
          </p:nvPr>
        </p:nvSpPr>
        <p:spPr/>
        <p:txBody>
          <a:bodyPr/>
          <a:lstStyle/>
          <a:p>
            <a:r>
              <a:rPr lang="en-US" altLang="he-IL" sz="2800"/>
              <a:t>But how do we operate on these memory elements? All arithmetic operations are between registers only?</a:t>
            </a:r>
          </a:p>
          <a:p>
            <a:r>
              <a:rPr lang="en-US" altLang="he-IL" sz="2800"/>
              <a:t>We must add a new instruction that transfers data from memory to register. This instruction is called </a:t>
            </a:r>
            <a:r>
              <a:rPr lang="en-US" altLang="he-IL" sz="2800" i="1"/>
              <a:t>load</a:t>
            </a:r>
            <a:r>
              <a:rPr lang="en-US" altLang="he-IL" sz="2800"/>
              <a:t>. In MIPS it is called </a:t>
            </a:r>
            <a:r>
              <a:rPr lang="en-US" altLang="he-IL" sz="2800" i="1"/>
              <a:t>lw</a:t>
            </a:r>
            <a:r>
              <a:rPr lang="en-US" altLang="he-IL" sz="2800"/>
              <a:t> for </a:t>
            </a:r>
            <a:r>
              <a:rPr lang="en-US" altLang="he-IL" sz="2800" i="1"/>
              <a:t>load word</a:t>
            </a:r>
            <a:r>
              <a:rPr lang="en-US" altLang="he-IL" sz="2800"/>
              <a:t>.</a:t>
            </a:r>
          </a:p>
          <a:p>
            <a:r>
              <a:rPr lang="en-US" altLang="he-IL" sz="2800">
                <a:latin typeface="Courier New" panose="02070309020205020404" pitchFamily="49" charset="0"/>
              </a:rPr>
              <a:t>g = h + A[8]; </a:t>
            </a:r>
            <a:r>
              <a:rPr lang="en-US" altLang="he-IL" sz="2800"/>
              <a:t>will compile into:</a:t>
            </a:r>
            <a:br>
              <a:rPr lang="en-US" altLang="he-IL" sz="2800"/>
            </a:br>
            <a:r>
              <a:rPr lang="en-US" altLang="he-IL" sz="2800">
                <a:latin typeface="Courier New" panose="02070309020205020404" pitchFamily="49" charset="0"/>
              </a:rPr>
              <a:t>lw	$t0, 8($s3) # $s3 holds the </a:t>
            </a:r>
            <a:br>
              <a:rPr lang="en-US" altLang="he-IL" sz="2800">
                <a:latin typeface="Courier New" panose="02070309020205020404" pitchFamily="49" charset="0"/>
              </a:rPr>
            </a:br>
            <a:r>
              <a:rPr lang="en-US" altLang="he-IL" sz="2800">
                <a:latin typeface="Courier New" panose="02070309020205020404" pitchFamily="49" charset="0"/>
              </a:rPr>
              <a:t>               #  address of A</a:t>
            </a:r>
            <a:br>
              <a:rPr lang="en-US" altLang="he-IL" sz="2800">
                <a:latin typeface="Courier New" panose="02070309020205020404" pitchFamily="49" charset="0"/>
              </a:rPr>
            </a:br>
            <a:r>
              <a:rPr lang="en-US" altLang="he-IL" sz="2800">
                <a:latin typeface="Courier New" panose="02070309020205020404" pitchFamily="49" charset="0"/>
              </a:rPr>
              <a:t>add $s1,$s2,$t0</a:t>
            </a:r>
          </a:p>
          <a:p>
            <a:r>
              <a:rPr lang="en-US" altLang="he-IL" sz="2800"/>
              <a:t>The constant in a data transfer instruction is called the </a:t>
            </a:r>
            <a:r>
              <a:rPr lang="en-US" altLang="he-IL" sz="2800" i="1"/>
              <a:t>offset</a:t>
            </a:r>
            <a:r>
              <a:rPr lang="en-US" altLang="he-IL" sz="2800"/>
              <a:t> and the register the </a:t>
            </a:r>
            <a:r>
              <a:rPr lang="en-US" altLang="he-IL" sz="2800" i="1"/>
              <a:t>base register</a:t>
            </a:r>
            <a:r>
              <a:rPr lang="en-US" altLang="he-IL" sz="2800"/>
              <a:t>.</a:t>
            </a:r>
            <a:endParaRPr lang="en-US" altLang="he-IL">
              <a:latin typeface="Courier New" panose="02070309020205020404" pitchFamily="49" charset="0"/>
            </a:endParaRPr>
          </a:p>
          <a:p>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0EE52B04-0E7B-AB2B-B67B-1E84BB1D8123}"/>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B33823C2-94BE-40F7-A17C-0F6FDDAE0F05}" type="slidenum">
              <a:rPr lang="he-IL" altLang="en-US" sz="1800">
                <a:latin typeface="Arial" panose="020B0604020202020204" pitchFamily="34" charset="0"/>
              </a:rPr>
              <a:pPr/>
              <a:t>8</a:t>
            </a:fld>
            <a:endParaRPr lang="en-US" altLang="en-US" sz="1800">
              <a:latin typeface="Arial" panose="020B0604020202020204" pitchFamily="34" charset="0"/>
            </a:endParaRPr>
          </a:p>
        </p:txBody>
      </p:sp>
      <p:sp>
        <p:nvSpPr>
          <p:cNvPr id="9219" name="Rectangle 2">
            <a:extLst>
              <a:ext uri="{FF2B5EF4-FFF2-40B4-BE49-F238E27FC236}">
                <a16:creationId xmlns:a16="http://schemas.microsoft.com/office/drawing/2014/main" id="{A408F45B-B20D-1498-A119-2EE16A4AAF01}"/>
              </a:ext>
            </a:extLst>
          </p:cNvPr>
          <p:cNvSpPr>
            <a:spLocks noGrp="1" noChangeArrowheads="1"/>
          </p:cNvSpPr>
          <p:nvPr>
            <p:ph type="title"/>
          </p:nvPr>
        </p:nvSpPr>
        <p:spPr/>
        <p:txBody>
          <a:bodyPr/>
          <a:lstStyle/>
          <a:p>
            <a:r>
              <a:rPr lang="en-US" altLang="he-IL"/>
              <a:t>The Store Instruction</a:t>
            </a:r>
          </a:p>
        </p:txBody>
      </p:sp>
      <p:sp>
        <p:nvSpPr>
          <p:cNvPr id="9220" name="Rectangle 3">
            <a:extLst>
              <a:ext uri="{FF2B5EF4-FFF2-40B4-BE49-F238E27FC236}">
                <a16:creationId xmlns:a16="http://schemas.microsoft.com/office/drawing/2014/main" id="{7540E551-7954-0F8B-B8B1-361041096322}"/>
              </a:ext>
            </a:extLst>
          </p:cNvPr>
          <p:cNvSpPr>
            <a:spLocks noGrp="1" noChangeArrowheads="1"/>
          </p:cNvSpPr>
          <p:nvPr>
            <p:ph type="body" idx="1"/>
          </p:nvPr>
        </p:nvSpPr>
        <p:spPr/>
        <p:txBody>
          <a:bodyPr/>
          <a:lstStyle/>
          <a:p>
            <a:r>
              <a:rPr lang="en-US" altLang="he-IL" sz="2800">
                <a:latin typeface="Courier New" panose="02070309020205020404" pitchFamily="49" charset="0"/>
              </a:rPr>
              <a:t>A[12] = h + A[8]; // all vars are ints</a:t>
            </a:r>
            <a:br>
              <a:rPr lang="en-US" altLang="he-IL" sz="2800">
                <a:latin typeface="Courier New" panose="02070309020205020404" pitchFamily="49" charset="0"/>
              </a:rPr>
            </a:br>
            <a:r>
              <a:rPr lang="en-US" altLang="he-IL" sz="2800"/>
              <a:t>compiles into:</a:t>
            </a:r>
            <a:br>
              <a:rPr lang="en-US" altLang="he-IL" sz="2800"/>
            </a:br>
            <a:r>
              <a:rPr lang="en-US" altLang="he-IL" sz="2800">
                <a:latin typeface="Courier New" panose="02070309020205020404" pitchFamily="49" charset="0"/>
              </a:rPr>
              <a:t>lw $t0,32($S3)   # $t0 = A[8]</a:t>
            </a:r>
            <a:br>
              <a:rPr lang="en-US" altLang="he-IL" sz="2800">
                <a:latin typeface="Courier New" panose="02070309020205020404" pitchFamily="49" charset="0"/>
              </a:rPr>
            </a:br>
            <a:r>
              <a:rPr lang="en-US" altLang="he-IL" sz="2800">
                <a:latin typeface="Courier New" panose="02070309020205020404" pitchFamily="49" charset="0"/>
              </a:rPr>
              <a:t>add $t0,$s2,$t0 # $t0 = h + A[8]</a:t>
            </a:r>
            <a:br>
              <a:rPr lang="en-US" altLang="he-IL" sz="2800">
                <a:latin typeface="Courier New" panose="02070309020205020404" pitchFamily="49" charset="0"/>
              </a:rPr>
            </a:br>
            <a:r>
              <a:rPr lang="en-US" altLang="he-IL" sz="2800"/>
              <a:t>and know to the final instruction:</a:t>
            </a:r>
            <a:br>
              <a:rPr lang="en-US" altLang="he-IL" sz="2800"/>
            </a:br>
            <a:r>
              <a:rPr lang="en-US" altLang="he-IL" sz="2800">
                <a:latin typeface="Courier New" panose="02070309020205020404" pitchFamily="49" charset="0"/>
              </a:rPr>
              <a:t>sw $t0,48($s3)  # A[12] = $t0</a:t>
            </a:r>
            <a:br>
              <a:rPr lang="en-US" altLang="he-IL" sz="2800">
                <a:latin typeface="Courier New" panose="02070309020205020404" pitchFamily="49" charset="0"/>
              </a:rPr>
            </a:br>
            <a:r>
              <a:rPr lang="en-US" altLang="he-IL" sz="2800"/>
              <a:t>sw stands for </a:t>
            </a:r>
            <a:r>
              <a:rPr lang="en-US" altLang="he-IL" sz="2800" i="1"/>
              <a:t>store word.</a:t>
            </a:r>
          </a:p>
          <a:p>
            <a:r>
              <a:rPr lang="en-US" altLang="he-IL" sz="2800"/>
              <a:t>Words are 4 bytes long,</a:t>
            </a:r>
            <a:br>
              <a:rPr lang="en-US" altLang="he-IL" sz="2800"/>
            </a:br>
            <a:r>
              <a:rPr lang="en-US" altLang="he-IL" sz="2800"/>
              <a:t>so when accessing an</a:t>
            </a:r>
            <a:br>
              <a:rPr lang="en-US" altLang="he-IL" sz="2800"/>
            </a:br>
            <a:r>
              <a:rPr lang="en-US" altLang="he-IL" sz="2800"/>
              <a:t>int we count in multiples</a:t>
            </a:r>
            <a:br>
              <a:rPr lang="en-US" altLang="he-IL" sz="2800"/>
            </a:br>
            <a:r>
              <a:rPr lang="en-US" altLang="he-IL" sz="2800"/>
              <a:t>of 4.</a:t>
            </a:r>
            <a:endParaRPr lang="en-US" altLang="he-IL">
              <a:latin typeface="Courier New" panose="02070309020205020404" pitchFamily="49" charset="0"/>
            </a:endParaRPr>
          </a:p>
        </p:txBody>
      </p:sp>
      <p:pic>
        <p:nvPicPr>
          <p:cNvPr id="9221" name="Picture 4" descr="C:\Donny\JCT\ca\F0303.WMF">
            <a:extLst>
              <a:ext uri="{FF2B5EF4-FFF2-40B4-BE49-F238E27FC236}">
                <a16:creationId xmlns:a16="http://schemas.microsoft.com/office/drawing/2014/main" id="{C4BCD24C-49A3-BE89-2E76-078B71A669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3657600"/>
            <a:ext cx="3938588"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9E874F-6E26-7740-7061-E0503732BEDE}"/>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17DDF459-06C8-4DF1-848E-1CAFE0B18F9F}" type="slidenum">
              <a:rPr lang="he-IL" altLang="en-US" sz="1800">
                <a:latin typeface="Arial" panose="020B0604020202020204" pitchFamily="34" charset="0"/>
              </a:rPr>
              <a:pPr/>
              <a:t>9</a:t>
            </a:fld>
            <a:endParaRPr lang="en-US" altLang="en-US" sz="1800">
              <a:latin typeface="Arial" panose="020B0604020202020204" pitchFamily="34" charset="0"/>
            </a:endParaRPr>
          </a:p>
        </p:txBody>
      </p:sp>
      <p:sp>
        <p:nvSpPr>
          <p:cNvPr id="10243" name="Rectangle 2">
            <a:extLst>
              <a:ext uri="{FF2B5EF4-FFF2-40B4-BE49-F238E27FC236}">
                <a16:creationId xmlns:a16="http://schemas.microsoft.com/office/drawing/2014/main" id="{36828C4E-11F9-4164-ADD0-F6CC79EFF27A}"/>
              </a:ext>
            </a:extLst>
          </p:cNvPr>
          <p:cNvSpPr>
            <a:spLocks noGrp="1" noChangeArrowheads="1"/>
          </p:cNvSpPr>
          <p:nvPr>
            <p:ph type="title"/>
          </p:nvPr>
        </p:nvSpPr>
        <p:spPr/>
        <p:txBody>
          <a:bodyPr/>
          <a:lstStyle/>
          <a:p>
            <a:r>
              <a:rPr lang="en-US" altLang="he-IL"/>
              <a:t>Using an Array Index</a:t>
            </a:r>
          </a:p>
        </p:txBody>
      </p:sp>
      <p:sp>
        <p:nvSpPr>
          <p:cNvPr id="10244" name="Rectangle 3">
            <a:extLst>
              <a:ext uri="{FF2B5EF4-FFF2-40B4-BE49-F238E27FC236}">
                <a16:creationId xmlns:a16="http://schemas.microsoft.com/office/drawing/2014/main" id="{8EC4B490-BD3B-D1BB-1C6B-28BAE823C480}"/>
              </a:ext>
            </a:extLst>
          </p:cNvPr>
          <p:cNvSpPr>
            <a:spLocks noGrp="1" noChangeArrowheads="1"/>
          </p:cNvSpPr>
          <p:nvPr>
            <p:ph type="body" idx="1"/>
          </p:nvPr>
        </p:nvSpPr>
        <p:spPr/>
        <p:txBody>
          <a:bodyPr/>
          <a:lstStyle/>
          <a:p>
            <a:r>
              <a:rPr lang="en-US" altLang="he-IL" sz="2800">
                <a:latin typeface="Courier New" panose="02070309020205020404" pitchFamily="49" charset="0"/>
              </a:rPr>
              <a:t>g = h + A[i]; // i is an index in $s4</a:t>
            </a:r>
            <a:br>
              <a:rPr lang="en-US" altLang="he-IL" sz="2800">
                <a:latin typeface="Courier New" panose="02070309020205020404" pitchFamily="49" charset="0"/>
              </a:rPr>
            </a:br>
            <a:r>
              <a:rPr lang="en-US" altLang="he-IL" sz="2800"/>
              <a:t>compiles into</a:t>
            </a:r>
            <a:br>
              <a:rPr lang="en-US" altLang="he-IL" sz="2800"/>
            </a:br>
            <a:r>
              <a:rPr lang="en-US" altLang="he-IL" sz="2800">
                <a:latin typeface="Courier New" panose="02070309020205020404" pitchFamily="49" charset="0"/>
              </a:rPr>
              <a:t>add $t1,$s4,$s4 # $t1 = i*2</a:t>
            </a:r>
            <a:br>
              <a:rPr lang="en-US" altLang="he-IL" sz="2800">
                <a:latin typeface="Courier New" panose="02070309020205020404" pitchFamily="49" charset="0"/>
              </a:rPr>
            </a:br>
            <a:r>
              <a:rPr lang="en-US" altLang="he-IL" sz="2800">
                <a:latin typeface="Courier New" panose="02070309020205020404" pitchFamily="49" charset="0"/>
              </a:rPr>
              <a:t>add $t1,$t1,$t1 # $t1 = i*4;</a:t>
            </a:r>
            <a:br>
              <a:rPr lang="en-US" altLang="he-IL" sz="2800">
                <a:latin typeface="Courier New" panose="02070309020205020404" pitchFamily="49" charset="0"/>
              </a:rPr>
            </a:br>
            <a:r>
              <a:rPr lang="en-US" altLang="he-IL" sz="2800">
                <a:latin typeface="Courier New" panose="02070309020205020404" pitchFamily="49" charset="0"/>
              </a:rPr>
              <a:t>add $t1,$t1,$t3 # $t1 = index + base</a:t>
            </a:r>
            <a:br>
              <a:rPr lang="en-US" altLang="he-IL" sz="2800">
                <a:latin typeface="Courier New" panose="02070309020205020404" pitchFamily="49" charset="0"/>
              </a:rPr>
            </a:br>
            <a:r>
              <a:rPr lang="en-US" altLang="he-IL" sz="2800">
                <a:latin typeface="Courier New" panose="02070309020205020404" pitchFamily="49" charset="0"/>
              </a:rPr>
              <a:t>                #  address</a:t>
            </a:r>
            <a:br>
              <a:rPr lang="en-US" altLang="he-IL" sz="2800">
                <a:latin typeface="Courier New" panose="02070309020205020404" pitchFamily="49" charset="0"/>
              </a:rPr>
            </a:br>
            <a:r>
              <a:rPr lang="en-US" altLang="he-IL" sz="2800">
                <a:latin typeface="Courier New" panose="02070309020205020404" pitchFamily="49" charset="0"/>
              </a:rPr>
              <a:t>lw  $t0,0($t1)  # $t0 = A[i]</a:t>
            </a:r>
            <a:br>
              <a:rPr lang="en-US" altLang="he-IL" sz="2800">
                <a:latin typeface="Courier New" panose="02070309020205020404" pitchFamily="49" charset="0"/>
              </a:rPr>
            </a:br>
            <a:r>
              <a:rPr lang="en-US" altLang="he-IL" sz="2800">
                <a:latin typeface="Courier New" panose="02070309020205020404" pitchFamily="49" charset="0"/>
              </a:rPr>
              <a:t>add $s1,$s2,$t0 # g = h + A[i]</a:t>
            </a:r>
          </a:p>
          <a:p>
            <a:r>
              <a:rPr lang="en-US" altLang="he-IL" sz="2800"/>
              <a:t>The register which holds the index is sometimes called the </a:t>
            </a:r>
            <a:r>
              <a:rPr lang="en-US" altLang="he-IL" sz="2800" i="1"/>
              <a:t>index register.</a:t>
            </a:r>
            <a:endParaRPr lang="en-US" altLang="he-IL">
              <a:latin typeface="Courier New" panose="02070309020205020404"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802B9038-7F33-A2B6-6FD4-24628284804B}"/>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122E5149-2A8A-47DB-9C49-1B94B52736BD}" type="slidenum">
              <a:rPr lang="he-IL" altLang="en-US" sz="1800">
                <a:latin typeface="Arial" panose="020B0604020202020204" pitchFamily="34" charset="0"/>
              </a:rPr>
              <a:pPr/>
              <a:t>10</a:t>
            </a:fld>
            <a:endParaRPr lang="en-US" altLang="en-US" sz="1800">
              <a:latin typeface="Arial" panose="020B0604020202020204" pitchFamily="34" charset="0"/>
            </a:endParaRPr>
          </a:p>
        </p:txBody>
      </p:sp>
      <p:sp>
        <p:nvSpPr>
          <p:cNvPr id="11267" name="Rectangle 2">
            <a:extLst>
              <a:ext uri="{FF2B5EF4-FFF2-40B4-BE49-F238E27FC236}">
                <a16:creationId xmlns:a16="http://schemas.microsoft.com/office/drawing/2014/main" id="{11771923-92AB-1469-499E-D77C753AC4C7}"/>
              </a:ext>
            </a:extLst>
          </p:cNvPr>
          <p:cNvSpPr>
            <a:spLocks noGrp="1" noChangeArrowheads="1"/>
          </p:cNvSpPr>
          <p:nvPr>
            <p:ph type="title"/>
          </p:nvPr>
        </p:nvSpPr>
        <p:spPr/>
        <p:txBody>
          <a:bodyPr/>
          <a:lstStyle/>
          <a:p>
            <a:r>
              <a:rPr lang="en-US" altLang="he-IL"/>
              <a:t>Representing Instructions</a:t>
            </a:r>
          </a:p>
        </p:txBody>
      </p:sp>
      <p:sp>
        <p:nvSpPr>
          <p:cNvPr id="11268" name="Rectangle 3">
            <a:extLst>
              <a:ext uri="{FF2B5EF4-FFF2-40B4-BE49-F238E27FC236}">
                <a16:creationId xmlns:a16="http://schemas.microsoft.com/office/drawing/2014/main" id="{5967AB92-B6ED-74AF-7611-7ED6ABDDCF75}"/>
              </a:ext>
            </a:extLst>
          </p:cNvPr>
          <p:cNvSpPr>
            <a:spLocks noGrp="1" noChangeArrowheads="1"/>
          </p:cNvSpPr>
          <p:nvPr>
            <p:ph type="body" idx="1"/>
          </p:nvPr>
        </p:nvSpPr>
        <p:spPr/>
        <p:txBody>
          <a:bodyPr/>
          <a:lstStyle/>
          <a:p>
            <a:r>
              <a:rPr lang="en-US" altLang="he-IL" sz="2800"/>
              <a:t>Lets look at the numbers behind the instructions:</a:t>
            </a:r>
            <a:br>
              <a:rPr lang="en-US" altLang="he-IL" sz="2800"/>
            </a:br>
            <a:r>
              <a:rPr lang="en-US" altLang="he-IL" sz="2800">
                <a:latin typeface="Courier New" panose="02070309020205020404" pitchFamily="49" charset="0"/>
              </a:rPr>
              <a:t>add $t0,$s1,$s2</a:t>
            </a:r>
            <a:br>
              <a:rPr lang="en-US" altLang="he-IL" sz="2800">
                <a:latin typeface="Courier New" panose="02070309020205020404" pitchFamily="49" charset="0"/>
              </a:rPr>
            </a:br>
            <a:r>
              <a:rPr lang="en-US" altLang="he-IL" sz="2800"/>
              <a:t>first as a combination of decimal numbers:</a:t>
            </a:r>
            <a:br>
              <a:rPr lang="en-US" altLang="he-IL" sz="2800"/>
            </a:br>
            <a:r>
              <a:rPr lang="en-US" altLang="he-IL" sz="2800"/>
              <a:t>0            17        18        8          0	          32</a:t>
            </a:r>
            <a:br>
              <a:rPr lang="en-US" altLang="he-IL" sz="2800"/>
            </a:br>
            <a:r>
              <a:rPr lang="en-US" altLang="he-IL" sz="2800"/>
              <a:t>Each of the segments is called a field.</a:t>
            </a:r>
          </a:p>
          <a:p>
            <a:r>
              <a:rPr lang="en-US" altLang="he-IL" sz="2800"/>
              <a:t>The first and last fields (0 and 32) tell the computer to perform addition.</a:t>
            </a:r>
          </a:p>
          <a:p>
            <a:r>
              <a:rPr lang="en-US" altLang="he-IL" sz="2800"/>
              <a:t>The second field is the first operand (17 = </a:t>
            </a:r>
            <a:r>
              <a:rPr lang="en-US" altLang="he-IL" sz="2800">
                <a:latin typeface="Courier New" panose="02070309020205020404" pitchFamily="49" charset="0"/>
              </a:rPr>
              <a:t>$s1</a:t>
            </a:r>
            <a:r>
              <a:rPr lang="en-US" altLang="he-IL" sz="2800"/>
              <a:t>)</a:t>
            </a:r>
          </a:p>
          <a:p>
            <a:r>
              <a:rPr lang="en-US" altLang="he-IL" sz="2800"/>
              <a:t>The third field is the second operand (18 = </a:t>
            </a:r>
            <a:r>
              <a:rPr lang="en-US" altLang="he-IL" sz="2800">
                <a:latin typeface="Courier New" panose="02070309020205020404" pitchFamily="49" charset="0"/>
              </a:rPr>
              <a:t>$s2</a:t>
            </a:r>
            <a:r>
              <a:rPr lang="en-US" altLang="he-IL" sz="2800"/>
              <a:t>)</a:t>
            </a:r>
          </a:p>
          <a:p>
            <a:r>
              <a:rPr lang="en-US" altLang="he-IL" sz="2800"/>
              <a:t>The fourth field is the destination register (8 = </a:t>
            </a:r>
            <a:r>
              <a:rPr lang="en-US" altLang="he-IL" sz="2800">
                <a:latin typeface="Courier New" panose="02070309020205020404" pitchFamily="49" charset="0"/>
              </a:rPr>
              <a:t>$t0</a:t>
            </a:r>
            <a:r>
              <a:rPr lang="en-US" altLang="he-IL" sz="2800"/>
              <a:t>)</a:t>
            </a:r>
          </a:p>
          <a:p>
            <a:r>
              <a:rPr lang="en-US" altLang="he-IL" sz="2800"/>
              <a:t>The fifth field is unused in this instruction.</a:t>
            </a:r>
          </a:p>
          <a:p>
            <a:endParaRPr lang="en-US" altLang="he-IL" sz="2400" b="1"/>
          </a:p>
        </p:txBody>
      </p:sp>
      <p:sp>
        <p:nvSpPr>
          <p:cNvPr id="11269" name="Rectangle 14">
            <a:extLst>
              <a:ext uri="{FF2B5EF4-FFF2-40B4-BE49-F238E27FC236}">
                <a16:creationId xmlns:a16="http://schemas.microsoft.com/office/drawing/2014/main" id="{891B0EA6-4496-5516-706C-22A8C0DE33F9}"/>
              </a:ext>
            </a:extLst>
          </p:cNvPr>
          <p:cNvSpPr>
            <a:spLocks noChangeArrowheads="1"/>
          </p:cNvSpPr>
          <p:nvPr/>
        </p:nvSpPr>
        <p:spPr bwMode="auto">
          <a:xfrm>
            <a:off x="304800" y="2362200"/>
            <a:ext cx="7239000" cy="38100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endParaRPr lang="en-US" altLang="en-US"/>
          </a:p>
        </p:txBody>
      </p:sp>
      <p:sp>
        <p:nvSpPr>
          <p:cNvPr id="11270" name="Line 15">
            <a:extLst>
              <a:ext uri="{FF2B5EF4-FFF2-40B4-BE49-F238E27FC236}">
                <a16:creationId xmlns:a16="http://schemas.microsoft.com/office/drawing/2014/main" id="{B59272CE-332A-02E1-8541-04A1CB2E7E93}"/>
              </a:ext>
            </a:extLst>
          </p:cNvPr>
          <p:cNvSpPr>
            <a:spLocks noChangeShapeType="1"/>
          </p:cNvSpPr>
          <p:nvPr/>
        </p:nvSpPr>
        <p:spPr bwMode="auto">
          <a:xfrm>
            <a:off x="1371600" y="23622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71" name="Line 16">
            <a:extLst>
              <a:ext uri="{FF2B5EF4-FFF2-40B4-BE49-F238E27FC236}">
                <a16:creationId xmlns:a16="http://schemas.microsoft.com/office/drawing/2014/main" id="{62326E9C-93EA-5826-9A83-F6462A81A272}"/>
              </a:ext>
            </a:extLst>
          </p:cNvPr>
          <p:cNvSpPr>
            <a:spLocks noChangeShapeType="1"/>
          </p:cNvSpPr>
          <p:nvPr/>
        </p:nvSpPr>
        <p:spPr bwMode="auto">
          <a:xfrm>
            <a:off x="2743200" y="23622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72" name="Line 17">
            <a:extLst>
              <a:ext uri="{FF2B5EF4-FFF2-40B4-BE49-F238E27FC236}">
                <a16:creationId xmlns:a16="http://schemas.microsoft.com/office/drawing/2014/main" id="{26A85463-C9D3-490A-0CD4-40EF71C04100}"/>
              </a:ext>
            </a:extLst>
          </p:cNvPr>
          <p:cNvSpPr>
            <a:spLocks noChangeShapeType="1"/>
          </p:cNvSpPr>
          <p:nvPr/>
        </p:nvSpPr>
        <p:spPr bwMode="auto">
          <a:xfrm>
            <a:off x="3962400" y="23622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73" name="Line 18">
            <a:extLst>
              <a:ext uri="{FF2B5EF4-FFF2-40B4-BE49-F238E27FC236}">
                <a16:creationId xmlns:a16="http://schemas.microsoft.com/office/drawing/2014/main" id="{C7B6DB39-56DD-6C7D-E659-1B19DBA3D03B}"/>
              </a:ext>
            </a:extLst>
          </p:cNvPr>
          <p:cNvSpPr>
            <a:spLocks noChangeShapeType="1"/>
          </p:cNvSpPr>
          <p:nvPr/>
        </p:nvSpPr>
        <p:spPr bwMode="auto">
          <a:xfrm>
            <a:off x="5105400" y="23622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74" name="Line 19">
            <a:extLst>
              <a:ext uri="{FF2B5EF4-FFF2-40B4-BE49-F238E27FC236}">
                <a16:creationId xmlns:a16="http://schemas.microsoft.com/office/drawing/2014/main" id="{1C8458A1-3E81-F563-CED8-D888A3F7A6DA}"/>
              </a:ext>
            </a:extLst>
          </p:cNvPr>
          <p:cNvSpPr>
            <a:spLocks noChangeShapeType="1"/>
          </p:cNvSpPr>
          <p:nvPr/>
        </p:nvSpPr>
        <p:spPr bwMode="auto">
          <a:xfrm>
            <a:off x="6248400" y="23622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DAEFFBD4-A4CE-6D36-BC47-F85469B1FA6E}"/>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DFBA3622-84E5-4171-9155-0B0E0B0C9312}" type="slidenum">
              <a:rPr lang="he-IL" altLang="en-US" sz="1800">
                <a:latin typeface="Arial" panose="020B0604020202020204" pitchFamily="34" charset="0"/>
              </a:rPr>
              <a:pPr/>
              <a:t>11</a:t>
            </a:fld>
            <a:endParaRPr lang="en-US" altLang="en-US" sz="1800">
              <a:latin typeface="Arial" panose="020B0604020202020204" pitchFamily="34" charset="0"/>
            </a:endParaRPr>
          </a:p>
        </p:txBody>
      </p:sp>
      <p:sp>
        <p:nvSpPr>
          <p:cNvPr id="12291" name="Rectangle 2">
            <a:extLst>
              <a:ext uri="{FF2B5EF4-FFF2-40B4-BE49-F238E27FC236}">
                <a16:creationId xmlns:a16="http://schemas.microsoft.com/office/drawing/2014/main" id="{15CF096F-F5D5-E9E9-D0FF-23FA738D4219}"/>
              </a:ext>
            </a:extLst>
          </p:cNvPr>
          <p:cNvSpPr>
            <a:spLocks noGrp="1" noChangeArrowheads="1"/>
          </p:cNvSpPr>
          <p:nvPr>
            <p:ph type="title"/>
          </p:nvPr>
        </p:nvSpPr>
        <p:spPr/>
        <p:txBody>
          <a:bodyPr/>
          <a:lstStyle/>
          <a:p>
            <a:r>
              <a:rPr lang="en-US" altLang="he-IL"/>
              <a:t>Binary Representation</a:t>
            </a:r>
          </a:p>
        </p:txBody>
      </p:sp>
      <p:sp>
        <p:nvSpPr>
          <p:cNvPr id="12292" name="Rectangle 3">
            <a:extLst>
              <a:ext uri="{FF2B5EF4-FFF2-40B4-BE49-F238E27FC236}">
                <a16:creationId xmlns:a16="http://schemas.microsoft.com/office/drawing/2014/main" id="{9A4E0F32-52FB-F6BE-0278-5AB69044B548}"/>
              </a:ext>
            </a:extLst>
          </p:cNvPr>
          <p:cNvSpPr>
            <a:spLocks noGrp="1" noChangeArrowheads="1"/>
          </p:cNvSpPr>
          <p:nvPr>
            <p:ph type="body" idx="1"/>
          </p:nvPr>
        </p:nvSpPr>
        <p:spPr/>
        <p:txBody>
          <a:bodyPr/>
          <a:lstStyle/>
          <a:p>
            <a:r>
              <a:rPr lang="en-US" altLang="he-IL" sz="2800"/>
              <a:t>The instruction in its binary representation:</a:t>
            </a:r>
            <a:br>
              <a:rPr lang="en-US" altLang="he-IL" sz="2800"/>
            </a:br>
            <a:br>
              <a:rPr lang="en-US" altLang="he-IL" sz="2800"/>
            </a:br>
            <a:r>
              <a:rPr lang="en-US" altLang="he-IL" sz="2800"/>
              <a:t>000000  10001  10010  01000  00000  100000</a:t>
            </a:r>
            <a:br>
              <a:rPr lang="en-US" altLang="he-IL" sz="2800"/>
            </a:br>
            <a:r>
              <a:rPr lang="en-US" altLang="he-IL" sz="2800"/>
              <a:t>6 bits      5 bits    5 bits    5 bits   5 bits    6 bits</a:t>
            </a:r>
            <a:br>
              <a:rPr lang="en-US" altLang="he-IL" sz="2800"/>
            </a:br>
            <a:endParaRPr lang="en-US" altLang="he-IL" sz="2400" b="1"/>
          </a:p>
          <a:p>
            <a:r>
              <a:rPr lang="en-US" altLang="he-IL" sz="2800"/>
              <a:t>The numeric version of the instructions is called </a:t>
            </a:r>
            <a:r>
              <a:rPr lang="en-US" altLang="he-IL" sz="2800" i="1"/>
              <a:t>machine language </a:t>
            </a:r>
            <a:r>
              <a:rPr lang="en-US" altLang="he-IL" sz="2800"/>
              <a:t>or </a:t>
            </a:r>
            <a:r>
              <a:rPr lang="en-US" altLang="he-IL" sz="2800" i="1"/>
              <a:t>machine code</a:t>
            </a:r>
            <a:r>
              <a:rPr lang="en-US" altLang="he-IL" sz="2800"/>
              <a:t>. The layout of the instruction is the </a:t>
            </a:r>
            <a:r>
              <a:rPr lang="en-US" altLang="he-IL" sz="2800" i="1"/>
              <a:t>instruction format</a:t>
            </a:r>
            <a:r>
              <a:rPr lang="en-US" altLang="he-IL" sz="2800"/>
              <a:t>.</a:t>
            </a:r>
          </a:p>
          <a:p>
            <a:r>
              <a:rPr lang="en-US" altLang="he-IL" sz="2800"/>
              <a:t>In MIPS all instructions are 32 bits long, like words,</a:t>
            </a:r>
            <a:br>
              <a:rPr lang="en-US" altLang="he-IL" sz="2800"/>
            </a:br>
            <a:r>
              <a:rPr lang="en-US" altLang="he-IL" sz="2800"/>
              <a:t>this is to follow the design principle that simplicity favors regularity.</a:t>
            </a:r>
            <a:endParaRPr lang="en-US" altLang="en-US" sz="2800"/>
          </a:p>
        </p:txBody>
      </p:sp>
      <p:sp>
        <p:nvSpPr>
          <p:cNvPr id="12293" name="Rectangle 4">
            <a:extLst>
              <a:ext uri="{FF2B5EF4-FFF2-40B4-BE49-F238E27FC236}">
                <a16:creationId xmlns:a16="http://schemas.microsoft.com/office/drawing/2014/main" id="{027ACC80-FD5E-48F8-ACA3-16F648302096}"/>
              </a:ext>
            </a:extLst>
          </p:cNvPr>
          <p:cNvSpPr>
            <a:spLocks noChangeArrowheads="1"/>
          </p:cNvSpPr>
          <p:nvPr/>
        </p:nvSpPr>
        <p:spPr bwMode="auto">
          <a:xfrm>
            <a:off x="609600" y="1905000"/>
            <a:ext cx="7467600" cy="38100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endParaRPr lang="en-US" altLang="en-US"/>
          </a:p>
        </p:txBody>
      </p:sp>
      <p:sp>
        <p:nvSpPr>
          <p:cNvPr id="12294" name="Line 5">
            <a:extLst>
              <a:ext uri="{FF2B5EF4-FFF2-40B4-BE49-F238E27FC236}">
                <a16:creationId xmlns:a16="http://schemas.microsoft.com/office/drawing/2014/main" id="{C566FE35-8D5E-F868-DCF3-57992C5B65C0}"/>
              </a:ext>
            </a:extLst>
          </p:cNvPr>
          <p:cNvSpPr>
            <a:spLocks noChangeShapeType="1"/>
          </p:cNvSpPr>
          <p:nvPr/>
        </p:nvSpPr>
        <p:spPr bwMode="auto">
          <a:xfrm>
            <a:off x="1981200" y="19050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295" name="Line 6">
            <a:extLst>
              <a:ext uri="{FF2B5EF4-FFF2-40B4-BE49-F238E27FC236}">
                <a16:creationId xmlns:a16="http://schemas.microsoft.com/office/drawing/2014/main" id="{31178CBC-3C0A-6E46-5FD7-35DD1BF40553}"/>
              </a:ext>
            </a:extLst>
          </p:cNvPr>
          <p:cNvSpPr>
            <a:spLocks noChangeShapeType="1"/>
          </p:cNvSpPr>
          <p:nvPr/>
        </p:nvSpPr>
        <p:spPr bwMode="auto">
          <a:xfrm>
            <a:off x="3124200" y="19050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296" name="Line 7">
            <a:extLst>
              <a:ext uri="{FF2B5EF4-FFF2-40B4-BE49-F238E27FC236}">
                <a16:creationId xmlns:a16="http://schemas.microsoft.com/office/drawing/2014/main" id="{E9708ACE-0019-9117-699D-C30C24E9BCBE}"/>
              </a:ext>
            </a:extLst>
          </p:cNvPr>
          <p:cNvSpPr>
            <a:spLocks noChangeShapeType="1"/>
          </p:cNvSpPr>
          <p:nvPr/>
        </p:nvSpPr>
        <p:spPr bwMode="auto">
          <a:xfrm>
            <a:off x="4343400" y="19050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297" name="Line 8">
            <a:extLst>
              <a:ext uri="{FF2B5EF4-FFF2-40B4-BE49-F238E27FC236}">
                <a16:creationId xmlns:a16="http://schemas.microsoft.com/office/drawing/2014/main" id="{E1582A72-7146-7AF5-50FC-9A5EDC6CE584}"/>
              </a:ext>
            </a:extLst>
          </p:cNvPr>
          <p:cNvSpPr>
            <a:spLocks noChangeShapeType="1"/>
          </p:cNvSpPr>
          <p:nvPr/>
        </p:nvSpPr>
        <p:spPr bwMode="auto">
          <a:xfrm>
            <a:off x="5562600" y="19050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298" name="Line 9">
            <a:extLst>
              <a:ext uri="{FF2B5EF4-FFF2-40B4-BE49-F238E27FC236}">
                <a16:creationId xmlns:a16="http://schemas.microsoft.com/office/drawing/2014/main" id="{215A6287-D107-4B0D-67EC-4E1BAECB4E72}"/>
              </a:ext>
            </a:extLst>
          </p:cNvPr>
          <p:cNvSpPr>
            <a:spLocks noChangeShapeType="1"/>
          </p:cNvSpPr>
          <p:nvPr/>
        </p:nvSpPr>
        <p:spPr bwMode="auto">
          <a:xfrm>
            <a:off x="6705600" y="19050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95D5EDF-35AE-210E-01A3-9BB87B1D016B}"/>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A16A572F-F985-47A7-984D-617183DC6C99}" type="slidenum">
              <a:rPr lang="he-IL" altLang="en-US" sz="1800">
                <a:latin typeface="Arial" panose="020B0604020202020204" pitchFamily="34" charset="0"/>
              </a:rPr>
              <a:pPr/>
              <a:t>12</a:t>
            </a:fld>
            <a:endParaRPr lang="en-US" altLang="en-US" sz="1800">
              <a:latin typeface="Arial" panose="020B0604020202020204" pitchFamily="34" charset="0"/>
            </a:endParaRPr>
          </a:p>
        </p:txBody>
      </p:sp>
      <p:sp>
        <p:nvSpPr>
          <p:cNvPr id="13315" name="Rectangle 2">
            <a:extLst>
              <a:ext uri="{FF2B5EF4-FFF2-40B4-BE49-F238E27FC236}">
                <a16:creationId xmlns:a16="http://schemas.microsoft.com/office/drawing/2014/main" id="{4C7FF359-6A54-6F51-8E8B-8D64858259BC}"/>
              </a:ext>
            </a:extLst>
          </p:cNvPr>
          <p:cNvSpPr>
            <a:spLocks noGrp="1" noChangeArrowheads="1"/>
          </p:cNvSpPr>
          <p:nvPr>
            <p:ph type="title"/>
          </p:nvPr>
        </p:nvSpPr>
        <p:spPr/>
        <p:txBody>
          <a:bodyPr/>
          <a:lstStyle/>
          <a:p>
            <a:r>
              <a:rPr lang="en-US" altLang="he-IL"/>
              <a:t>Instruction Formats</a:t>
            </a:r>
          </a:p>
        </p:txBody>
      </p:sp>
      <p:sp>
        <p:nvSpPr>
          <p:cNvPr id="13316" name="Rectangle 3">
            <a:extLst>
              <a:ext uri="{FF2B5EF4-FFF2-40B4-BE49-F238E27FC236}">
                <a16:creationId xmlns:a16="http://schemas.microsoft.com/office/drawing/2014/main" id="{051D4A9D-D899-67D3-7B9E-225766B8BD3A}"/>
              </a:ext>
            </a:extLst>
          </p:cNvPr>
          <p:cNvSpPr>
            <a:spLocks noGrp="1" noChangeArrowheads="1"/>
          </p:cNvSpPr>
          <p:nvPr>
            <p:ph type="body" idx="1"/>
          </p:nvPr>
        </p:nvSpPr>
        <p:spPr/>
        <p:txBody>
          <a:bodyPr/>
          <a:lstStyle/>
          <a:p>
            <a:r>
              <a:rPr lang="en-US" altLang="he-IL" sz="2800"/>
              <a:t>A problem occurs when an instruction needs longer fields. For example the load and store instructions must specify an offset. In the existing format the maximal field size is 5, thus the maximal offset is 2</a:t>
            </a:r>
            <a:r>
              <a:rPr lang="en-US" altLang="he-IL" sz="2800" b="1" baseline="30000"/>
              <a:t>5</a:t>
            </a:r>
            <a:r>
              <a:rPr lang="en-US" altLang="he-IL" sz="2800"/>
              <a:t> or 32. This is obviously to small.</a:t>
            </a:r>
          </a:p>
          <a:p>
            <a:r>
              <a:rPr lang="en-US" altLang="he-IL" sz="2800"/>
              <a:t>We have a conflict between the desire to keep all instructions the same length and the desire to have a single instruction format. This leads to design principle 3: </a:t>
            </a:r>
            <a:br>
              <a:rPr lang="en-US" altLang="he-IL" sz="2800"/>
            </a:br>
            <a:r>
              <a:rPr lang="en-US" altLang="he-IL" sz="2800"/>
              <a:t>Good design demands good compromise.</a:t>
            </a:r>
          </a:p>
          <a:p>
            <a:r>
              <a:rPr lang="en-US" altLang="he-IL" sz="2800"/>
              <a:t>The MIPS designers made the compromise of having several instruction formats and a single instruction length.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919D2E4C-990C-2B85-1BB7-A9C4B4405FC7}"/>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8DFDF17B-1469-4A33-8C15-8C38F68AE088}" type="slidenum">
              <a:rPr lang="he-IL" altLang="en-US" sz="1800">
                <a:latin typeface="Arial" panose="020B0604020202020204" pitchFamily="34" charset="0"/>
              </a:rPr>
              <a:pPr/>
              <a:t>13</a:t>
            </a:fld>
            <a:endParaRPr lang="en-US" altLang="en-US" sz="1800">
              <a:latin typeface="Arial" panose="020B0604020202020204" pitchFamily="34" charset="0"/>
            </a:endParaRPr>
          </a:p>
        </p:txBody>
      </p:sp>
      <p:sp>
        <p:nvSpPr>
          <p:cNvPr id="14339" name="Rectangle 2">
            <a:extLst>
              <a:ext uri="{FF2B5EF4-FFF2-40B4-BE49-F238E27FC236}">
                <a16:creationId xmlns:a16="http://schemas.microsoft.com/office/drawing/2014/main" id="{3752B8F1-EEC8-1EC1-6B80-0FA070920C58}"/>
              </a:ext>
            </a:extLst>
          </p:cNvPr>
          <p:cNvSpPr>
            <a:spLocks noGrp="1" noChangeArrowheads="1"/>
          </p:cNvSpPr>
          <p:nvPr>
            <p:ph type="title"/>
          </p:nvPr>
        </p:nvSpPr>
        <p:spPr>
          <a:xfrm>
            <a:off x="304800" y="228600"/>
            <a:ext cx="8534400" cy="762000"/>
          </a:xfrm>
        </p:spPr>
        <p:txBody>
          <a:bodyPr/>
          <a:lstStyle/>
          <a:p>
            <a:r>
              <a:rPr lang="en-US" altLang="he-IL"/>
              <a:t>R-format Instructions </a:t>
            </a:r>
          </a:p>
        </p:txBody>
      </p:sp>
      <p:sp>
        <p:nvSpPr>
          <p:cNvPr id="14340" name="Rectangle 3">
            <a:extLst>
              <a:ext uri="{FF2B5EF4-FFF2-40B4-BE49-F238E27FC236}">
                <a16:creationId xmlns:a16="http://schemas.microsoft.com/office/drawing/2014/main" id="{87410793-4F9F-5712-D6F7-B41C2CAFED4D}"/>
              </a:ext>
            </a:extLst>
          </p:cNvPr>
          <p:cNvSpPr>
            <a:spLocks noGrp="1" noChangeArrowheads="1"/>
          </p:cNvSpPr>
          <p:nvPr>
            <p:ph type="body" idx="1"/>
          </p:nvPr>
        </p:nvSpPr>
        <p:spPr/>
        <p:txBody>
          <a:bodyPr/>
          <a:lstStyle/>
          <a:p>
            <a:r>
              <a:rPr lang="en-US" altLang="he-IL"/>
              <a:t>MIPS R-format Instructions fields are given:</a:t>
            </a:r>
            <a:br>
              <a:rPr lang="en-US" altLang="he-IL"/>
            </a:br>
            <a:br>
              <a:rPr lang="en-US" altLang="he-IL"/>
            </a:br>
            <a:r>
              <a:rPr lang="en-US" altLang="he-IL"/>
              <a:t>   </a:t>
            </a:r>
            <a:r>
              <a:rPr lang="en-US" altLang="he-IL" sz="2800"/>
              <a:t>op          rs          rt          rd      shamt    funct</a:t>
            </a:r>
            <a:br>
              <a:rPr lang="en-US" altLang="he-IL" sz="2800"/>
            </a:br>
            <a:r>
              <a:rPr lang="en-US" altLang="he-IL" sz="2800"/>
              <a:t>6 bits      5 bits    5 bits    5 bits   5 bits    6 bits</a:t>
            </a:r>
          </a:p>
          <a:p>
            <a:r>
              <a:rPr lang="en-US" altLang="he-IL" sz="2800"/>
              <a:t>Lets look at a add instruction: </a:t>
            </a:r>
            <a:r>
              <a:rPr lang="en-US" altLang="he-IL" sz="2800">
                <a:latin typeface="Courier New" panose="02070309020205020404" pitchFamily="49" charset="0"/>
              </a:rPr>
              <a:t>add $t0,$s1,$s2</a:t>
            </a:r>
            <a:endParaRPr lang="en-US" altLang="he-IL" sz="2800"/>
          </a:p>
          <a:p>
            <a:r>
              <a:rPr lang="en-US" altLang="he-IL" sz="2800" i="1"/>
              <a:t>op</a:t>
            </a:r>
            <a:r>
              <a:rPr lang="en-US" altLang="he-IL" sz="2800"/>
              <a:t>: basic operation of the instruction called </a:t>
            </a:r>
            <a:r>
              <a:rPr lang="en-US" altLang="he-IL" sz="2800" i="1"/>
              <a:t>opcode</a:t>
            </a:r>
          </a:p>
          <a:p>
            <a:r>
              <a:rPr lang="en-US" altLang="he-IL" sz="2800" i="1"/>
              <a:t>rs</a:t>
            </a:r>
            <a:r>
              <a:rPr lang="en-US" altLang="he-IL" sz="2800"/>
              <a:t>: first register source operand</a:t>
            </a:r>
          </a:p>
          <a:p>
            <a:r>
              <a:rPr lang="en-US" altLang="he-IL" sz="2800" i="1"/>
              <a:t>rt</a:t>
            </a:r>
            <a:r>
              <a:rPr lang="en-US" altLang="he-IL" sz="2800"/>
              <a:t>: second register source operand</a:t>
            </a:r>
          </a:p>
          <a:p>
            <a:r>
              <a:rPr lang="en-US" altLang="he-IL" sz="2800" i="1"/>
              <a:t>rd</a:t>
            </a:r>
            <a:r>
              <a:rPr lang="en-US" altLang="he-IL" sz="2800"/>
              <a:t>: destination register, gets the result of the op</a:t>
            </a:r>
          </a:p>
          <a:p>
            <a:r>
              <a:rPr lang="en-US" altLang="he-IL" sz="2800" i="1"/>
              <a:t>shamt</a:t>
            </a:r>
            <a:r>
              <a:rPr lang="en-US" altLang="he-IL" sz="2800"/>
              <a:t>: shift amount, used in shift instructions.</a:t>
            </a:r>
          </a:p>
          <a:p>
            <a:r>
              <a:rPr lang="en-US" altLang="he-IL" sz="2800" i="1"/>
              <a:t>funct</a:t>
            </a:r>
            <a:r>
              <a:rPr lang="en-US" altLang="he-IL" sz="2800"/>
              <a:t>: selects the specific variant of the operation.</a:t>
            </a:r>
            <a:endParaRPr lang="en-US" altLang="he-IL" sz="2400" b="1"/>
          </a:p>
          <a:p>
            <a:endParaRPr lang="en-US" altLang="he-IL"/>
          </a:p>
        </p:txBody>
      </p:sp>
      <p:sp>
        <p:nvSpPr>
          <p:cNvPr id="14341" name="Rectangle 4">
            <a:extLst>
              <a:ext uri="{FF2B5EF4-FFF2-40B4-BE49-F238E27FC236}">
                <a16:creationId xmlns:a16="http://schemas.microsoft.com/office/drawing/2014/main" id="{83571FBB-1B88-0791-0480-887BC1D9CA3C}"/>
              </a:ext>
            </a:extLst>
          </p:cNvPr>
          <p:cNvSpPr>
            <a:spLocks noChangeArrowheads="1"/>
          </p:cNvSpPr>
          <p:nvPr/>
        </p:nvSpPr>
        <p:spPr bwMode="auto">
          <a:xfrm>
            <a:off x="609600" y="2133600"/>
            <a:ext cx="7543800" cy="38100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endParaRPr lang="en-US" altLang="en-US"/>
          </a:p>
        </p:txBody>
      </p:sp>
      <p:sp>
        <p:nvSpPr>
          <p:cNvPr id="14342" name="Line 5">
            <a:extLst>
              <a:ext uri="{FF2B5EF4-FFF2-40B4-BE49-F238E27FC236}">
                <a16:creationId xmlns:a16="http://schemas.microsoft.com/office/drawing/2014/main" id="{D59FC887-31DA-9DED-F022-43D281E916D7}"/>
              </a:ext>
            </a:extLst>
          </p:cNvPr>
          <p:cNvSpPr>
            <a:spLocks noChangeShapeType="1"/>
          </p:cNvSpPr>
          <p:nvPr/>
        </p:nvSpPr>
        <p:spPr bwMode="auto">
          <a:xfrm>
            <a:off x="1828800" y="21336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3" name="Line 6">
            <a:extLst>
              <a:ext uri="{FF2B5EF4-FFF2-40B4-BE49-F238E27FC236}">
                <a16:creationId xmlns:a16="http://schemas.microsoft.com/office/drawing/2014/main" id="{D40F69E9-DCF9-0F6D-FB97-E6B1E8AF981C}"/>
              </a:ext>
            </a:extLst>
          </p:cNvPr>
          <p:cNvSpPr>
            <a:spLocks noChangeShapeType="1"/>
          </p:cNvSpPr>
          <p:nvPr/>
        </p:nvSpPr>
        <p:spPr bwMode="auto">
          <a:xfrm>
            <a:off x="3124200" y="21336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4" name="Line 7">
            <a:extLst>
              <a:ext uri="{FF2B5EF4-FFF2-40B4-BE49-F238E27FC236}">
                <a16:creationId xmlns:a16="http://schemas.microsoft.com/office/drawing/2014/main" id="{61593617-2A8D-C073-FB04-EBC09E17273C}"/>
              </a:ext>
            </a:extLst>
          </p:cNvPr>
          <p:cNvSpPr>
            <a:spLocks noChangeShapeType="1"/>
          </p:cNvSpPr>
          <p:nvPr/>
        </p:nvSpPr>
        <p:spPr bwMode="auto">
          <a:xfrm>
            <a:off x="4343400" y="21336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5" name="Line 8">
            <a:extLst>
              <a:ext uri="{FF2B5EF4-FFF2-40B4-BE49-F238E27FC236}">
                <a16:creationId xmlns:a16="http://schemas.microsoft.com/office/drawing/2014/main" id="{81A76A19-78F3-ABBA-CD5B-ECD59EFB6012}"/>
              </a:ext>
            </a:extLst>
          </p:cNvPr>
          <p:cNvSpPr>
            <a:spLocks noChangeShapeType="1"/>
          </p:cNvSpPr>
          <p:nvPr/>
        </p:nvSpPr>
        <p:spPr bwMode="auto">
          <a:xfrm>
            <a:off x="5486400" y="21336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6" name="Line 9">
            <a:extLst>
              <a:ext uri="{FF2B5EF4-FFF2-40B4-BE49-F238E27FC236}">
                <a16:creationId xmlns:a16="http://schemas.microsoft.com/office/drawing/2014/main" id="{680942D7-5909-F5E9-6017-E498A7EDA1B1}"/>
              </a:ext>
            </a:extLst>
          </p:cNvPr>
          <p:cNvSpPr>
            <a:spLocks noChangeShapeType="1"/>
          </p:cNvSpPr>
          <p:nvPr/>
        </p:nvSpPr>
        <p:spPr bwMode="auto">
          <a:xfrm>
            <a:off x="6934200" y="21336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a:extLst>
              <a:ext uri="{FF2B5EF4-FFF2-40B4-BE49-F238E27FC236}">
                <a16:creationId xmlns:a16="http://schemas.microsoft.com/office/drawing/2014/main" id="{7CCD3CEF-F979-1551-8E83-1DA91EA07D58}"/>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EFA07503-FCFD-4FAA-9CE3-C947EF2D20A2}" type="slidenum">
              <a:rPr lang="he-IL" altLang="en-US" sz="1800">
                <a:latin typeface="Arial" panose="020B0604020202020204" pitchFamily="34" charset="0"/>
              </a:rPr>
              <a:pPr/>
              <a:t>14</a:t>
            </a:fld>
            <a:endParaRPr lang="en-US" altLang="en-US" sz="1800">
              <a:latin typeface="Arial" panose="020B0604020202020204" pitchFamily="34" charset="0"/>
            </a:endParaRPr>
          </a:p>
        </p:txBody>
      </p:sp>
      <p:sp>
        <p:nvSpPr>
          <p:cNvPr id="15363" name="Rectangle 2">
            <a:extLst>
              <a:ext uri="{FF2B5EF4-FFF2-40B4-BE49-F238E27FC236}">
                <a16:creationId xmlns:a16="http://schemas.microsoft.com/office/drawing/2014/main" id="{8BA2351C-D756-69C6-727F-988BCE216D8C}"/>
              </a:ext>
            </a:extLst>
          </p:cNvPr>
          <p:cNvSpPr>
            <a:spLocks noGrp="1" noChangeArrowheads="1"/>
          </p:cNvSpPr>
          <p:nvPr>
            <p:ph type="title"/>
          </p:nvPr>
        </p:nvSpPr>
        <p:spPr/>
        <p:txBody>
          <a:bodyPr/>
          <a:lstStyle/>
          <a:p>
            <a:r>
              <a:rPr lang="en-US" altLang="he-IL"/>
              <a:t>I-format Instructions </a:t>
            </a:r>
          </a:p>
        </p:txBody>
      </p:sp>
      <p:sp>
        <p:nvSpPr>
          <p:cNvPr id="15364" name="Rectangle 3">
            <a:extLst>
              <a:ext uri="{FF2B5EF4-FFF2-40B4-BE49-F238E27FC236}">
                <a16:creationId xmlns:a16="http://schemas.microsoft.com/office/drawing/2014/main" id="{4AD2E9E5-2A02-0C2A-6686-F4A120CADB6F}"/>
              </a:ext>
            </a:extLst>
          </p:cNvPr>
          <p:cNvSpPr>
            <a:spLocks noGrp="1" noChangeArrowheads="1"/>
          </p:cNvSpPr>
          <p:nvPr>
            <p:ph type="body" idx="1"/>
          </p:nvPr>
        </p:nvSpPr>
        <p:spPr/>
        <p:txBody>
          <a:bodyPr/>
          <a:lstStyle/>
          <a:p>
            <a:r>
              <a:rPr lang="en-US" altLang="he-IL" sz="2800"/>
              <a:t>The first instruction format is called the  </a:t>
            </a:r>
            <a:r>
              <a:rPr lang="en-US" altLang="he-IL" sz="2800" i="1"/>
              <a:t>R-format</a:t>
            </a:r>
            <a:r>
              <a:rPr lang="en-US" altLang="he-IL" sz="2800"/>
              <a:t> or </a:t>
            </a:r>
            <a:r>
              <a:rPr lang="en-US" altLang="he-IL" sz="2800" i="1"/>
              <a:t>R-type.</a:t>
            </a:r>
          </a:p>
          <a:p>
            <a:r>
              <a:rPr lang="en-US" altLang="he-IL" sz="2800"/>
              <a:t>The second is called the </a:t>
            </a:r>
            <a:r>
              <a:rPr lang="en-US" altLang="he-IL" sz="2800" i="1"/>
              <a:t>I-format </a:t>
            </a:r>
            <a:r>
              <a:rPr lang="en-US" altLang="he-IL" sz="2800"/>
              <a:t>and is used for data transfers.</a:t>
            </a:r>
            <a:br>
              <a:rPr lang="en-US" altLang="he-IL" sz="2800"/>
            </a:br>
            <a:r>
              <a:rPr lang="en-US" altLang="he-IL" sz="2800"/>
              <a:t> op          rs          rt                 address</a:t>
            </a:r>
            <a:br>
              <a:rPr lang="en-US" altLang="he-IL" sz="2800"/>
            </a:br>
            <a:r>
              <a:rPr lang="en-US" altLang="he-IL" sz="2800"/>
              <a:t>6 bits      5 bits    5 bits           16 bits</a:t>
            </a:r>
          </a:p>
          <a:p>
            <a:r>
              <a:rPr lang="en-US" altLang="he-IL" sz="2800"/>
              <a:t>Lets look at a load instruction:</a:t>
            </a:r>
            <a:br>
              <a:rPr lang="en-US" altLang="he-IL" sz="2800"/>
            </a:br>
            <a:r>
              <a:rPr lang="en-US" altLang="he-IL" sz="2800">
                <a:latin typeface="Courier New" panose="02070309020205020404" pitchFamily="49" charset="0"/>
              </a:rPr>
              <a:t>lw $t0,32($s3) # $t0 = A[8]</a:t>
            </a:r>
          </a:p>
          <a:p>
            <a:r>
              <a:rPr lang="en-US" altLang="he-IL" sz="2800"/>
              <a:t>rs: base address register </a:t>
            </a:r>
            <a:r>
              <a:rPr lang="en-US" altLang="he-IL" sz="2800">
                <a:latin typeface="Courier New" panose="02070309020205020404" pitchFamily="49" charset="0"/>
              </a:rPr>
              <a:t>($s3</a:t>
            </a:r>
            <a:r>
              <a:rPr lang="en-US" altLang="he-IL" sz="2800"/>
              <a:t>)</a:t>
            </a:r>
          </a:p>
          <a:p>
            <a:r>
              <a:rPr lang="en-US" altLang="he-IL" sz="2800"/>
              <a:t>rt: destination register </a:t>
            </a:r>
            <a:r>
              <a:rPr lang="en-US" altLang="he-IL" sz="2800">
                <a:latin typeface="Courier New" panose="02070309020205020404" pitchFamily="49" charset="0"/>
              </a:rPr>
              <a:t>($t0</a:t>
            </a:r>
            <a:r>
              <a:rPr lang="en-US" altLang="he-IL" sz="2800"/>
              <a:t>)</a:t>
            </a:r>
          </a:p>
          <a:p>
            <a:r>
              <a:rPr lang="en-US" altLang="he-IL" sz="2800"/>
              <a:t>address: offset of -2</a:t>
            </a:r>
            <a:r>
              <a:rPr lang="en-US" altLang="he-IL" sz="2800" b="1" baseline="30000"/>
              <a:t>15</a:t>
            </a:r>
            <a:r>
              <a:rPr lang="en-US" altLang="he-IL" sz="2800"/>
              <a:t> to 2</a:t>
            </a:r>
            <a:r>
              <a:rPr lang="en-US" altLang="he-IL" sz="2800" b="1" baseline="30000"/>
              <a:t>15</a:t>
            </a:r>
            <a:r>
              <a:rPr lang="en-US" altLang="he-IL" sz="2800"/>
              <a:t> bytes (</a:t>
            </a:r>
            <a:r>
              <a:rPr lang="en-US" altLang="he-IL" sz="2800">
                <a:latin typeface="Courier New" panose="02070309020205020404" pitchFamily="49" charset="0"/>
              </a:rPr>
              <a:t>32</a:t>
            </a:r>
            <a:r>
              <a:rPr lang="en-US" altLang="he-IL" sz="2800"/>
              <a:t>)</a:t>
            </a:r>
            <a:endParaRPr lang="en-US" altLang="he-IL">
              <a:latin typeface="Courier New" panose="02070309020205020404" pitchFamily="49" charset="0"/>
            </a:endParaRPr>
          </a:p>
        </p:txBody>
      </p:sp>
      <p:sp>
        <p:nvSpPr>
          <p:cNvPr id="15365" name="Rectangle 4">
            <a:extLst>
              <a:ext uri="{FF2B5EF4-FFF2-40B4-BE49-F238E27FC236}">
                <a16:creationId xmlns:a16="http://schemas.microsoft.com/office/drawing/2014/main" id="{7847E0CC-A36E-3706-AD94-DE7BF804015E}"/>
              </a:ext>
            </a:extLst>
          </p:cNvPr>
          <p:cNvSpPr>
            <a:spLocks noChangeArrowheads="1"/>
          </p:cNvSpPr>
          <p:nvPr/>
        </p:nvSpPr>
        <p:spPr bwMode="auto">
          <a:xfrm>
            <a:off x="609600" y="2895600"/>
            <a:ext cx="7543800" cy="38100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endParaRPr lang="en-US" altLang="en-US"/>
          </a:p>
        </p:txBody>
      </p:sp>
      <p:sp>
        <p:nvSpPr>
          <p:cNvPr id="15366" name="Line 5">
            <a:extLst>
              <a:ext uri="{FF2B5EF4-FFF2-40B4-BE49-F238E27FC236}">
                <a16:creationId xmlns:a16="http://schemas.microsoft.com/office/drawing/2014/main" id="{B42B6D77-144A-FBDB-8C53-0E8C2AB0B467}"/>
              </a:ext>
            </a:extLst>
          </p:cNvPr>
          <p:cNvSpPr>
            <a:spLocks noChangeShapeType="1"/>
          </p:cNvSpPr>
          <p:nvPr/>
        </p:nvSpPr>
        <p:spPr bwMode="auto">
          <a:xfrm>
            <a:off x="4495800" y="28956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67" name="Line 6">
            <a:extLst>
              <a:ext uri="{FF2B5EF4-FFF2-40B4-BE49-F238E27FC236}">
                <a16:creationId xmlns:a16="http://schemas.microsoft.com/office/drawing/2014/main" id="{3CE0CA4B-DC23-931D-FDA3-148D531A5277}"/>
              </a:ext>
            </a:extLst>
          </p:cNvPr>
          <p:cNvSpPr>
            <a:spLocks noChangeShapeType="1"/>
          </p:cNvSpPr>
          <p:nvPr/>
        </p:nvSpPr>
        <p:spPr bwMode="auto">
          <a:xfrm>
            <a:off x="2971800" y="28956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68" name="Line 7">
            <a:extLst>
              <a:ext uri="{FF2B5EF4-FFF2-40B4-BE49-F238E27FC236}">
                <a16:creationId xmlns:a16="http://schemas.microsoft.com/office/drawing/2014/main" id="{31665DC1-AE58-ED19-1D83-406831DE8478}"/>
              </a:ext>
            </a:extLst>
          </p:cNvPr>
          <p:cNvSpPr>
            <a:spLocks noChangeShapeType="1"/>
          </p:cNvSpPr>
          <p:nvPr/>
        </p:nvSpPr>
        <p:spPr bwMode="auto">
          <a:xfrm>
            <a:off x="1676400" y="28956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FB334B2-3F5B-CA62-B4B4-1AD1DE36DF24}"/>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DF5E8E3C-F913-497D-B7CA-09956305C7ED}" type="slidenum">
              <a:rPr lang="he-IL" altLang="en-US" sz="1800">
                <a:latin typeface="Arial" panose="020B0604020202020204" pitchFamily="34" charset="0"/>
              </a:rPr>
              <a:pPr/>
              <a:t>15</a:t>
            </a:fld>
            <a:endParaRPr lang="en-US" altLang="en-US" sz="1800">
              <a:latin typeface="Arial" panose="020B0604020202020204" pitchFamily="34" charset="0"/>
            </a:endParaRPr>
          </a:p>
        </p:txBody>
      </p:sp>
      <p:sp>
        <p:nvSpPr>
          <p:cNvPr id="16387" name="Rectangle 2">
            <a:extLst>
              <a:ext uri="{FF2B5EF4-FFF2-40B4-BE49-F238E27FC236}">
                <a16:creationId xmlns:a16="http://schemas.microsoft.com/office/drawing/2014/main" id="{F6CCA761-40A8-5496-379B-F0DEACB504A7}"/>
              </a:ext>
            </a:extLst>
          </p:cNvPr>
          <p:cNvSpPr>
            <a:spLocks noGrp="1" noChangeArrowheads="1"/>
          </p:cNvSpPr>
          <p:nvPr>
            <p:ph type="title"/>
          </p:nvPr>
        </p:nvSpPr>
        <p:spPr/>
        <p:txBody>
          <a:bodyPr/>
          <a:lstStyle/>
          <a:p>
            <a:r>
              <a:rPr lang="en-US" altLang="he-IL"/>
              <a:t>Branch Instructions</a:t>
            </a:r>
          </a:p>
        </p:txBody>
      </p:sp>
      <p:sp>
        <p:nvSpPr>
          <p:cNvPr id="16388" name="Rectangle 3">
            <a:extLst>
              <a:ext uri="{FF2B5EF4-FFF2-40B4-BE49-F238E27FC236}">
                <a16:creationId xmlns:a16="http://schemas.microsoft.com/office/drawing/2014/main" id="{DDD1BFFD-3DC0-2EC7-2C0B-77556523A9C9}"/>
              </a:ext>
            </a:extLst>
          </p:cNvPr>
          <p:cNvSpPr>
            <a:spLocks noGrp="1" noChangeArrowheads="1"/>
          </p:cNvSpPr>
          <p:nvPr>
            <p:ph type="body" idx="1"/>
          </p:nvPr>
        </p:nvSpPr>
        <p:spPr/>
        <p:txBody>
          <a:bodyPr/>
          <a:lstStyle/>
          <a:p>
            <a:r>
              <a:rPr lang="en-US" altLang="he-IL" sz="2800"/>
              <a:t>Decision making is possible using branches.</a:t>
            </a:r>
          </a:p>
          <a:p>
            <a:r>
              <a:rPr lang="en-US" altLang="he-IL" sz="2800"/>
              <a:t>The following instructions are </a:t>
            </a:r>
            <a:r>
              <a:rPr lang="en-US" altLang="he-IL" sz="2800" i="1"/>
              <a:t>conditional branch</a:t>
            </a:r>
            <a:r>
              <a:rPr lang="en-US" altLang="he-IL" sz="2800"/>
              <a:t> instructions:</a:t>
            </a:r>
            <a:r>
              <a:rPr lang="en-US" altLang="he-IL"/>
              <a:t> </a:t>
            </a:r>
          </a:p>
          <a:p>
            <a:r>
              <a:rPr lang="en-US" altLang="he-IL" sz="2800">
                <a:latin typeface="Courier New" panose="02070309020205020404" pitchFamily="49" charset="0"/>
              </a:rPr>
              <a:t>beq reg1,reg2,L1 #branch equal</a:t>
            </a:r>
            <a:br>
              <a:rPr lang="en-US" altLang="he-IL" sz="2800">
                <a:latin typeface="Courier New" panose="02070309020205020404" pitchFamily="49" charset="0"/>
              </a:rPr>
            </a:br>
            <a:r>
              <a:rPr lang="en-US" altLang="he-IL" sz="2800"/>
              <a:t>goto the instruction labeled </a:t>
            </a:r>
            <a:r>
              <a:rPr lang="en-US" altLang="he-IL" sz="2800">
                <a:latin typeface="Courier New" panose="02070309020205020404" pitchFamily="49" charset="0"/>
              </a:rPr>
              <a:t>L1 </a:t>
            </a:r>
            <a:r>
              <a:rPr lang="en-US" altLang="he-IL" sz="2800"/>
              <a:t>if the register values are equal, if unequal goto the next instruction.</a:t>
            </a:r>
            <a:endParaRPr lang="en-US" altLang="he-IL" sz="2800">
              <a:latin typeface="Courier New" panose="02070309020205020404" pitchFamily="49" charset="0"/>
            </a:endParaRPr>
          </a:p>
          <a:p>
            <a:r>
              <a:rPr lang="en-US" altLang="he-IL" sz="2800">
                <a:latin typeface="Courier New" panose="02070309020205020404" pitchFamily="49" charset="0"/>
              </a:rPr>
              <a:t>bne reg1,reg2,L1 #branch not equal</a:t>
            </a:r>
            <a:br>
              <a:rPr lang="en-US" altLang="he-IL" sz="2800">
                <a:latin typeface="Courier New" panose="02070309020205020404" pitchFamily="49" charset="0"/>
              </a:rPr>
            </a:br>
            <a:r>
              <a:rPr lang="en-US" altLang="he-IL" sz="2800"/>
              <a:t>goto the instruction labeled </a:t>
            </a:r>
            <a:r>
              <a:rPr lang="en-US" altLang="he-IL" sz="2800">
                <a:latin typeface="Courier New" panose="02070309020205020404" pitchFamily="49" charset="0"/>
              </a:rPr>
              <a:t>L1 </a:t>
            </a:r>
            <a:r>
              <a:rPr lang="en-US" altLang="he-IL" sz="2800"/>
              <a:t>if the register values are’nt equal</a:t>
            </a:r>
            <a:r>
              <a:rPr lang="en-US" altLang="he-IL" sz="2800">
                <a:latin typeface="Courier New" panose="02070309020205020404" pitchFamily="49" charset="0"/>
              </a:rPr>
              <a:t>, </a:t>
            </a:r>
            <a:r>
              <a:rPr lang="en-US" altLang="he-IL" sz="2800"/>
              <a:t>if equal goto the next instruction.</a:t>
            </a:r>
            <a:endParaRPr lang="en-US" altLang="he-IL" sz="2800">
              <a:latin typeface="Courier New" panose="02070309020205020404" pitchFamily="49" charset="0"/>
            </a:endParaRPr>
          </a:p>
          <a:p>
            <a:endParaRPr lang="en-US" altLang="he-IL" sz="2800">
              <a:latin typeface="Courier New" panose="02070309020205020404"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91F97557-B9AC-ACFC-EA01-D645BD63A88C}"/>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FBCF3A48-0DCB-4262-9799-EB4EE780EFCD}" type="slidenum">
              <a:rPr lang="he-IL" altLang="en-US" sz="1800">
                <a:latin typeface="Arial" panose="020B0604020202020204" pitchFamily="34" charset="0"/>
              </a:rPr>
              <a:pPr/>
              <a:t>16</a:t>
            </a:fld>
            <a:endParaRPr lang="en-US" altLang="en-US" sz="1800">
              <a:latin typeface="Arial" panose="020B0604020202020204" pitchFamily="34" charset="0"/>
            </a:endParaRPr>
          </a:p>
        </p:txBody>
      </p:sp>
      <p:sp>
        <p:nvSpPr>
          <p:cNvPr id="17411" name="Rectangle 2">
            <a:extLst>
              <a:ext uri="{FF2B5EF4-FFF2-40B4-BE49-F238E27FC236}">
                <a16:creationId xmlns:a16="http://schemas.microsoft.com/office/drawing/2014/main" id="{27549363-60D1-ED64-66E4-9115E2DCA64E}"/>
              </a:ext>
            </a:extLst>
          </p:cNvPr>
          <p:cNvSpPr>
            <a:spLocks noGrp="1" noChangeArrowheads="1"/>
          </p:cNvSpPr>
          <p:nvPr>
            <p:ph type="title"/>
          </p:nvPr>
        </p:nvSpPr>
        <p:spPr/>
        <p:txBody>
          <a:bodyPr/>
          <a:lstStyle/>
          <a:p>
            <a:r>
              <a:rPr lang="en-US" altLang="he-IL"/>
              <a:t>Compiling an if Statement</a:t>
            </a:r>
          </a:p>
        </p:txBody>
      </p:sp>
      <p:sp>
        <p:nvSpPr>
          <p:cNvPr id="17412" name="Rectangle 3">
            <a:extLst>
              <a:ext uri="{FF2B5EF4-FFF2-40B4-BE49-F238E27FC236}">
                <a16:creationId xmlns:a16="http://schemas.microsoft.com/office/drawing/2014/main" id="{A57EB913-6BE2-38E2-0E37-1FABF3A1895C}"/>
              </a:ext>
            </a:extLst>
          </p:cNvPr>
          <p:cNvSpPr>
            <a:spLocks noGrp="1" noChangeArrowheads="1"/>
          </p:cNvSpPr>
          <p:nvPr>
            <p:ph type="body" sz="half" idx="1"/>
          </p:nvPr>
        </p:nvSpPr>
        <p:spPr>
          <a:xfrm>
            <a:off x="228600" y="990600"/>
            <a:ext cx="4267200" cy="2209800"/>
          </a:xfrm>
        </p:spPr>
        <p:txBody>
          <a:bodyPr/>
          <a:lstStyle/>
          <a:p>
            <a:pPr>
              <a:buFontTx/>
              <a:buNone/>
            </a:pPr>
            <a:r>
              <a:rPr lang="en-US" altLang="he-IL"/>
              <a:t>		</a:t>
            </a:r>
            <a:r>
              <a:rPr lang="en-US" altLang="he-IL">
                <a:latin typeface="Courier New" panose="02070309020205020404" pitchFamily="49" charset="0"/>
              </a:rPr>
              <a:t>if(i==j)</a:t>
            </a:r>
          </a:p>
          <a:p>
            <a:pPr>
              <a:buFontTx/>
              <a:buNone/>
            </a:pPr>
            <a:r>
              <a:rPr lang="en-US" altLang="he-IL">
                <a:latin typeface="Courier New" panose="02070309020205020404" pitchFamily="49" charset="0"/>
              </a:rPr>
              <a:t>		 	goto L1;</a:t>
            </a:r>
          </a:p>
          <a:p>
            <a:pPr>
              <a:buFontTx/>
              <a:buNone/>
            </a:pPr>
            <a:r>
              <a:rPr lang="en-US" altLang="he-IL">
                <a:latin typeface="Courier New" panose="02070309020205020404" pitchFamily="49" charset="0"/>
              </a:rPr>
              <a:t>		f=g+h;</a:t>
            </a:r>
          </a:p>
          <a:p>
            <a:pPr>
              <a:buFontTx/>
              <a:buNone/>
            </a:pPr>
            <a:r>
              <a:rPr lang="en-US" altLang="he-IL">
                <a:latin typeface="Courier New" panose="02070309020205020404" pitchFamily="49" charset="0"/>
              </a:rPr>
              <a:t>L1:	f=f-i;</a:t>
            </a:r>
          </a:p>
          <a:p>
            <a:pPr>
              <a:buFontTx/>
              <a:buNone/>
            </a:pPr>
            <a:endParaRPr lang="en-US" altLang="he-IL">
              <a:latin typeface="Courier New" panose="02070309020205020404" pitchFamily="49" charset="0"/>
            </a:endParaRPr>
          </a:p>
        </p:txBody>
      </p:sp>
      <p:sp>
        <p:nvSpPr>
          <p:cNvPr id="17413" name="Rectangle 4">
            <a:extLst>
              <a:ext uri="{FF2B5EF4-FFF2-40B4-BE49-F238E27FC236}">
                <a16:creationId xmlns:a16="http://schemas.microsoft.com/office/drawing/2014/main" id="{84A5845C-98F9-3977-EB31-FA5D2B0F3336}"/>
              </a:ext>
            </a:extLst>
          </p:cNvPr>
          <p:cNvSpPr>
            <a:spLocks noGrp="1" noChangeArrowheads="1"/>
          </p:cNvSpPr>
          <p:nvPr>
            <p:ph type="body" sz="half" idx="2"/>
          </p:nvPr>
        </p:nvSpPr>
        <p:spPr>
          <a:xfrm>
            <a:off x="4648200" y="990600"/>
            <a:ext cx="4267200" cy="2590800"/>
          </a:xfrm>
        </p:spPr>
        <p:txBody>
          <a:bodyPr/>
          <a:lstStyle/>
          <a:p>
            <a:pPr>
              <a:buFontTx/>
              <a:buNone/>
            </a:pPr>
            <a:r>
              <a:rPr lang="en-US" altLang="he-IL">
                <a:latin typeface="Courier New" panose="02070309020205020404" pitchFamily="49" charset="0"/>
              </a:rPr>
              <a:t>	  beq $s3,$s4,L1</a:t>
            </a:r>
          </a:p>
          <a:p>
            <a:pPr>
              <a:buFontTx/>
              <a:buNone/>
            </a:pPr>
            <a:r>
              <a:rPr lang="en-US" altLang="he-IL">
                <a:latin typeface="Courier New" panose="02070309020205020404" pitchFamily="49" charset="0"/>
              </a:rPr>
              <a:t>	  add $s0,$s1,$s2</a:t>
            </a:r>
          </a:p>
          <a:p>
            <a:pPr>
              <a:buFontTx/>
              <a:buNone/>
            </a:pPr>
            <a:r>
              <a:rPr lang="en-US" altLang="he-IL">
                <a:latin typeface="Courier New" panose="02070309020205020404" pitchFamily="49" charset="0"/>
              </a:rPr>
              <a:t>L1: sub $s0,$s0,$s3 </a:t>
            </a:r>
            <a:endParaRPr lang="en-US" altLang="he-IL"/>
          </a:p>
        </p:txBody>
      </p:sp>
      <p:sp>
        <p:nvSpPr>
          <p:cNvPr id="17414" name="Text Box 6">
            <a:extLst>
              <a:ext uri="{FF2B5EF4-FFF2-40B4-BE49-F238E27FC236}">
                <a16:creationId xmlns:a16="http://schemas.microsoft.com/office/drawing/2014/main" id="{4D547145-D244-A944-585D-3B4D5F93B28E}"/>
              </a:ext>
            </a:extLst>
          </p:cNvPr>
          <p:cNvSpPr txBox="1">
            <a:spLocks noChangeArrowheads="1"/>
          </p:cNvSpPr>
          <p:nvPr/>
        </p:nvSpPr>
        <p:spPr bwMode="auto">
          <a:xfrm>
            <a:off x="304800" y="3276600"/>
            <a:ext cx="8610600"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endParaRPr lang="en-US" altLang="he-IL">
              <a:latin typeface="Arial" panose="020B0604020202020204" pitchFamily="34" charset="0"/>
            </a:endParaRPr>
          </a:p>
          <a:p>
            <a:r>
              <a:rPr lang="en-US" altLang="he-IL">
                <a:latin typeface="Arial" panose="020B0604020202020204" pitchFamily="34" charset="0"/>
              </a:rPr>
              <a:t>The label </a:t>
            </a:r>
            <a:r>
              <a:rPr lang="en-US" altLang="he-IL">
                <a:latin typeface="Courier New" panose="02070309020205020404" pitchFamily="49" charset="0"/>
              </a:rPr>
              <a:t>L1</a:t>
            </a:r>
            <a:r>
              <a:rPr lang="en-US" altLang="he-IL">
                <a:latin typeface="Arial" panose="020B0604020202020204" pitchFamily="34" charset="0"/>
              </a:rPr>
              <a:t> is in fact an address, it is the address of the </a:t>
            </a:r>
            <a:r>
              <a:rPr lang="en-US" altLang="he-IL">
                <a:latin typeface="Courier New" panose="02070309020205020404" pitchFamily="49" charset="0"/>
              </a:rPr>
              <a:t>sub</a:t>
            </a:r>
            <a:r>
              <a:rPr lang="en-US" altLang="he-IL">
                <a:latin typeface="Arial" panose="020B0604020202020204" pitchFamily="34" charset="0"/>
              </a:rPr>
              <a:t> instruction. The assembler relieves the programmer or compiler of the task of having to compute the addresses of instructions. As you can guess the branch instructions are I-type instructions.</a:t>
            </a:r>
          </a:p>
          <a:p>
            <a:pPr algn="r" rtl="1"/>
            <a:endParaRPr lang="en-US" altLang="en-US">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a:extLst>
              <a:ext uri="{FF2B5EF4-FFF2-40B4-BE49-F238E27FC236}">
                <a16:creationId xmlns:a16="http://schemas.microsoft.com/office/drawing/2014/main" id="{EFD872F4-0C00-E380-8247-7D05B625A727}"/>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AFC9136F-C62B-4BC6-9769-B591B31AA925}" type="slidenum">
              <a:rPr lang="he-IL" altLang="en-US" sz="1800">
                <a:latin typeface="Arial" panose="020B0604020202020204" pitchFamily="34" charset="0"/>
              </a:rPr>
              <a:pPr/>
              <a:t>17</a:t>
            </a:fld>
            <a:endParaRPr lang="en-US" altLang="en-US" sz="1800">
              <a:latin typeface="Arial" panose="020B0604020202020204" pitchFamily="34" charset="0"/>
            </a:endParaRPr>
          </a:p>
        </p:txBody>
      </p:sp>
      <p:sp>
        <p:nvSpPr>
          <p:cNvPr id="18435" name="Rectangle 2">
            <a:extLst>
              <a:ext uri="{FF2B5EF4-FFF2-40B4-BE49-F238E27FC236}">
                <a16:creationId xmlns:a16="http://schemas.microsoft.com/office/drawing/2014/main" id="{D95CC702-9230-7DE4-F9A5-FBE8B6997B0C}"/>
              </a:ext>
            </a:extLst>
          </p:cNvPr>
          <p:cNvSpPr>
            <a:spLocks noGrp="1" noChangeArrowheads="1"/>
          </p:cNvSpPr>
          <p:nvPr>
            <p:ph type="title"/>
          </p:nvPr>
        </p:nvSpPr>
        <p:spPr/>
        <p:txBody>
          <a:bodyPr/>
          <a:lstStyle/>
          <a:p>
            <a:r>
              <a:rPr lang="en-US" altLang="he-IL"/>
              <a:t>J-format Instructions </a:t>
            </a:r>
          </a:p>
        </p:txBody>
      </p:sp>
      <p:sp>
        <p:nvSpPr>
          <p:cNvPr id="18436" name="Rectangle 3">
            <a:extLst>
              <a:ext uri="{FF2B5EF4-FFF2-40B4-BE49-F238E27FC236}">
                <a16:creationId xmlns:a16="http://schemas.microsoft.com/office/drawing/2014/main" id="{AE55B738-DF67-A9FE-D689-D7B6044AC02E}"/>
              </a:ext>
            </a:extLst>
          </p:cNvPr>
          <p:cNvSpPr>
            <a:spLocks noGrp="1" noChangeArrowheads="1"/>
          </p:cNvSpPr>
          <p:nvPr>
            <p:ph type="body" idx="1"/>
          </p:nvPr>
        </p:nvSpPr>
        <p:spPr/>
        <p:txBody>
          <a:bodyPr/>
          <a:lstStyle/>
          <a:p>
            <a:r>
              <a:rPr lang="en-US" altLang="he-IL" sz="2800"/>
              <a:t>The first instruction format is called the  </a:t>
            </a:r>
            <a:r>
              <a:rPr lang="en-US" altLang="he-IL" sz="2800" i="1"/>
              <a:t>R-format</a:t>
            </a:r>
            <a:r>
              <a:rPr lang="en-US" altLang="he-IL" sz="2800"/>
              <a:t> or </a:t>
            </a:r>
            <a:r>
              <a:rPr lang="en-US" altLang="he-IL" sz="2800" i="1"/>
              <a:t>R-type.</a:t>
            </a:r>
          </a:p>
          <a:p>
            <a:r>
              <a:rPr lang="en-US" altLang="he-IL" sz="2800"/>
              <a:t>The second is called the </a:t>
            </a:r>
            <a:r>
              <a:rPr lang="en-US" altLang="he-IL" sz="2800" i="1"/>
              <a:t>I-format </a:t>
            </a:r>
            <a:r>
              <a:rPr lang="en-US" altLang="he-IL" sz="2800"/>
              <a:t>and is used for data transfers and branching conditionally. </a:t>
            </a:r>
          </a:p>
          <a:p>
            <a:r>
              <a:rPr lang="en-US" altLang="he-IL" sz="2800"/>
              <a:t>The Third is called the </a:t>
            </a:r>
            <a:r>
              <a:rPr lang="en-US" altLang="he-IL" sz="2800" i="1"/>
              <a:t>J-format </a:t>
            </a:r>
            <a:r>
              <a:rPr lang="en-US" altLang="he-IL" sz="2800"/>
              <a:t>and is used for jumping unconditionally.</a:t>
            </a:r>
          </a:p>
          <a:p>
            <a:r>
              <a:rPr lang="en-US" altLang="he-IL" sz="2800">
                <a:latin typeface="Courier New" panose="02070309020205020404" pitchFamily="49" charset="0"/>
              </a:rPr>
              <a:t> j loop</a:t>
            </a:r>
            <a:r>
              <a:rPr lang="en-US" altLang="he-IL" sz="2800"/>
              <a:t>.</a:t>
            </a:r>
            <a:r>
              <a:rPr lang="en-US" altLang="he-IL" sz="2800">
                <a:latin typeface="Courier New" panose="02070309020205020404" pitchFamily="49" charset="0"/>
              </a:rPr>
              <a:t> </a:t>
            </a:r>
            <a:br>
              <a:rPr lang="en-US" altLang="he-IL" sz="2800"/>
            </a:br>
            <a:r>
              <a:rPr lang="en-US" altLang="he-IL" sz="2800"/>
              <a:t> op                                address</a:t>
            </a:r>
            <a:br>
              <a:rPr lang="en-US" altLang="he-IL" sz="2800"/>
            </a:br>
            <a:r>
              <a:rPr lang="en-US" altLang="he-IL" sz="2800"/>
              <a:t>6 bits                          26 bits</a:t>
            </a:r>
          </a:p>
          <a:p>
            <a:r>
              <a:rPr lang="en-US" altLang="he-IL" sz="2800"/>
              <a:t>Lets look at a jump instruction:</a:t>
            </a:r>
            <a:br>
              <a:rPr lang="en-US" altLang="he-IL" sz="2800"/>
            </a:br>
            <a:r>
              <a:rPr lang="en-US" altLang="he-IL" sz="2800"/>
              <a:t>Address:</a:t>
            </a:r>
            <a:endParaRPr lang="en-US" altLang="he-IL">
              <a:latin typeface="Courier New" panose="02070309020205020404" pitchFamily="49" charset="0"/>
            </a:endParaRPr>
          </a:p>
        </p:txBody>
      </p:sp>
      <p:sp>
        <p:nvSpPr>
          <p:cNvPr id="18437" name="Rectangle 4">
            <a:extLst>
              <a:ext uri="{FF2B5EF4-FFF2-40B4-BE49-F238E27FC236}">
                <a16:creationId xmlns:a16="http://schemas.microsoft.com/office/drawing/2014/main" id="{761AAE77-0EAE-6211-9256-CF3BC087264B}"/>
              </a:ext>
            </a:extLst>
          </p:cNvPr>
          <p:cNvSpPr>
            <a:spLocks noChangeArrowheads="1"/>
          </p:cNvSpPr>
          <p:nvPr/>
        </p:nvSpPr>
        <p:spPr bwMode="auto">
          <a:xfrm>
            <a:off x="609600" y="4343400"/>
            <a:ext cx="7543800" cy="38100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endParaRPr lang="en-US" altLang="en-US"/>
          </a:p>
        </p:txBody>
      </p:sp>
      <p:sp>
        <p:nvSpPr>
          <p:cNvPr id="18438" name="Line 7">
            <a:extLst>
              <a:ext uri="{FF2B5EF4-FFF2-40B4-BE49-F238E27FC236}">
                <a16:creationId xmlns:a16="http://schemas.microsoft.com/office/drawing/2014/main" id="{B8716336-C403-8987-92E5-0472376F2177}"/>
              </a:ext>
            </a:extLst>
          </p:cNvPr>
          <p:cNvSpPr>
            <a:spLocks noChangeShapeType="1"/>
          </p:cNvSpPr>
          <p:nvPr/>
        </p:nvSpPr>
        <p:spPr bwMode="auto">
          <a:xfrm>
            <a:off x="1676400" y="43434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582D44E8-D1B3-8103-7335-FE6631DDC2C6}"/>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3A579365-D71D-45E0-81FD-C9C73B4DFC5C}" type="slidenum">
              <a:rPr lang="he-IL" altLang="en-US" sz="1800">
                <a:latin typeface="Arial" panose="020B0604020202020204" pitchFamily="34" charset="0"/>
              </a:rPr>
              <a:pPr/>
              <a:t>18</a:t>
            </a:fld>
            <a:endParaRPr lang="en-US" altLang="en-US" sz="1800">
              <a:latin typeface="Arial" panose="020B0604020202020204" pitchFamily="34" charset="0"/>
            </a:endParaRPr>
          </a:p>
        </p:txBody>
      </p:sp>
      <p:sp>
        <p:nvSpPr>
          <p:cNvPr id="19459" name="Rectangle 2">
            <a:extLst>
              <a:ext uri="{FF2B5EF4-FFF2-40B4-BE49-F238E27FC236}">
                <a16:creationId xmlns:a16="http://schemas.microsoft.com/office/drawing/2014/main" id="{3262E1F6-0AEC-EE4D-768E-717D6A38D27E}"/>
              </a:ext>
            </a:extLst>
          </p:cNvPr>
          <p:cNvSpPr>
            <a:spLocks noGrp="1" noChangeArrowheads="1"/>
          </p:cNvSpPr>
          <p:nvPr>
            <p:ph type="title"/>
          </p:nvPr>
        </p:nvSpPr>
        <p:spPr/>
        <p:txBody>
          <a:bodyPr/>
          <a:lstStyle/>
          <a:p>
            <a:r>
              <a:rPr lang="en-US" altLang="he-IL"/>
              <a:t>Compiling if-then-else</a:t>
            </a:r>
          </a:p>
        </p:txBody>
      </p:sp>
      <p:sp>
        <p:nvSpPr>
          <p:cNvPr id="19460" name="Rectangle 3">
            <a:extLst>
              <a:ext uri="{FF2B5EF4-FFF2-40B4-BE49-F238E27FC236}">
                <a16:creationId xmlns:a16="http://schemas.microsoft.com/office/drawing/2014/main" id="{62B04635-AC28-743D-CCCA-10FA8042F929}"/>
              </a:ext>
            </a:extLst>
          </p:cNvPr>
          <p:cNvSpPr>
            <a:spLocks noGrp="1" noChangeArrowheads="1"/>
          </p:cNvSpPr>
          <p:nvPr>
            <p:ph type="body" sz="half" idx="1"/>
          </p:nvPr>
        </p:nvSpPr>
        <p:spPr>
          <a:xfrm>
            <a:off x="228600" y="990600"/>
            <a:ext cx="4267200" cy="2286000"/>
          </a:xfrm>
        </p:spPr>
        <p:txBody>
          <a:bodyPr/>
          <a:lstStyle/>
          <a:p>
            <a:pPr>
              <a:buFontTx/>
              <a:buNone/>
            </a:pPr>
            <a:r>
              <a:rPr lang="en-US" altLang="he-IL">
                <a:latin typeface="Courier New" panose="02070309020205020404" pitchFamily="49" charset="0"/>
              </a:rPr>
              <a:t>if(i==j)</a:t>
            </a:r>
          </a:p>
          <a:p>
            <a:pPr>
              <a:buFontTx/>
              <a:buNone/>
            </a:pPr>
            <a:r>
              <a:rPr lang="en-US" altLang="he-IL">
                <a:latin typeface="Courier New" panose="02070309020205020404" pitchFamily="49" charset="0"/>
              </a:rPr>
              <a:t>	f=g+h;</a:t>
            </a:r>
          </a:p>
          <a:p>
            <a:pPr>
              <a:buFontTx/>
              <a:buNone/>
            </a:pPr>
            <a:r>
              <a:rPr lang="en-US" altLang="he-IL">
                <a:latin typeface="Courier New" panose="02070309020205020404" pitchFamily="49" charset="0"/>
              </a:rPr>
              <a:t>else</a:t>
            </a:r>
          </a:p>
          <a:p>
            <a:pPr>
              <a:buFontTx/>
              <a:buNone/>
            </a:pPr>
            <a:r>
              <a:rPr lang="en-US" altLang="he-IL">
                <a:latin typeface="Courier New" panose="02070309020205020404" pitchFamily="49" charset="0"/>
              </a:rPr>
              <a:t>	f=g-h;</a:t>
            </a:r>
          </a:p>
        </p:txBody>
      </p:sp>
      <p:sp>
        <p:nvSpPr>
          <p:cNvPr id="19461" name="Rectangle 4">
            <a:extLst>
              <a:ext uri="{FF2B5EF4-FFF2-40B4-BE49-F238E27FC236}">
                <a16:creationId xmlns:a16="http://schemas.microsoft.com/office/drawing/2014/main" id="{E34DE4D9-55CF-FEA3-D719-712892A408F2}"/>
              </a:ext>
            </a:extLst>
          </p:cNvPr>
          <p:cNvSpPr>
            <a:spLocks noGrp="1" noChangeArrowheads="1"/>
          </p:cNvSpPr>
          <p:nvPr>
            <p:ph type="body" sz="half" idx="2"/>
          </p:nvPr>
        </p:nvSpPr>
        <p:spPr>
          <a:xfrm>
            <a:off x="3505200" y="990600"/>
            <a:ext cx="5410200" cy="2590800"/>
          </a:xfrm>
        </p:spPr>
        <p:txBody>
          <a:bodyPr/>
          <a:lstStyle/>
          <a:p>
            <a:pPr>
              <a:buFontTx/>
              <a:buNone/>
            </a:pPr>
            <a:r>
              <a:rPr lang="en-US" altLang="he-IL">
                <a:latin typeface="Courier New" panose="02070309020205020404" pitchFamily="49" charset="0"/>
              </a:rPr>
              <a:t>		  bne $s3,$s4,Else</a:t>
            </a:r>
          </a:p>
          <a:p>
            <a:pPr>
              <a:buFontTx/>
              <a:buNone/>
            </a:pPr>
            <a:r>
              <a:rPr lang="en-US" altLang="he-IL">
                <a:latin typeface="Courier New" panose="02070309020205020404" pitchFamily="49" charset="0"/>
              </a:rPr>
              <a:t>		  add $s0,$s1,$s2</a:t>
            </a:r>
          </a:p>
          <a:p>
            <a:pPr>
              <a:buFontTx/>
              <a:buNone/>
            </a:pPr>
            <a:r>
              <a:rPr lang="en-US" altLang="he-IL">
                <a:latin typeface="Courier New" panose="02070309020205020404" pitchFamily="49" charset="0"/>
              </a:rPr>
              <a:t>		  j Exit</a:t>
            </a:r>
          </a:p>
          <a:p>
            <a:pPr>
              <a:buFontTx/>
              <a:buNone/>
            </a:pPr>
            <a:r>
              <a:rPr lang="en-US" altLang="he-IL">
                <a:latin typeface="Courier New" panose="02070309020205020404" pitchFamily="49" charset="0"/>
              </a:rPr>
              <a:t>Else: sub $s0,$s1,$s2</a:t>
            </a:r>
          </a:p>
          <a:p>
            <a:pPr>
              <a:buFontTx/>
              <a:buNone/>
            </a:pPr>
            <a:r>
              <a:rPr lang="en-US" altLang="he-IL">
                <a:latin typeface="Courier New" panose="02070309020205020404" pitchFamily="49" charset="0"/>
              </a:rPr>
              <a:t>Exit:</a:t>
            </a:r>
          </a:p>
        </p:txBody>
      </p:sp>
      <p:sp>
        <p:nvSpPr>
          <p:cNvPr id="19462" name="Text Box 7">
            <a:extLst>
              <a:ext uri="{FF2B5EF4-FFF2-40B4-BE49-F238E27FC236}">
                <a16:creationId xmlns:a16="http://schemas.microsoft.com/office/drawing/2014/main" id="{D209BD19-55BD-B87F-E8FD-E629DCAEA6DC}"/>
              </a:ext>
            </a:extLst>
          </p:cNvPr>
          <p:cNvSpPr txBox="1">
            <a:spLocks noChangeArrowheads="1"/>
          </p:cNvSpPr>
          <p:nvPr/>
        </p:nvSpPr>
        <p:spPr bwMode="auto">
          <a:xfrm>
            <a:off x="381000" y="3429000"/>
            <a:ext cx="4724400"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r>
              <a:rPr lang="en-US" altLang="he-IL">
                <a:latin typeface="Arial" panose="020B0604020202020204" pitchFamily="34" charset="0"/>
              </a:rPr>
              <a:t>The</a:t>
            </a:r>
            <a:r>
              <a:rPr lang="en-US" altLang="he-IL">
                <a:latin typeface="Courier New" panose="02070309020205020404" pitchFamily="49" charset="0"/>
              </a:rPr>
              <a:t> j</a:t>
            </a:r>
            <a:r>
              <a:rPr lang="en-US" altLang="he-IL">
                <a:latin typeface="Arial" panose="020B0604020202020204" pitchFamily="34" charset="0"/>
              </a:rPr>
              <a:t> instruction (j for jump) is an </a:t>
            </a:r>
            <a:r>
              <a:rPr lang="en-US" altLang="he-IL" i="1">
                <a:latin typeface="Arial" panose="020B0604020202020204" pitchFamily="34" charset="0"/>
              </a:rPr>
              <a:t>unconditional branch</a:t>
            </a:r>
            <a:r>
              <a:rPr lang="en-US" altLang="he-IL">
                <a:latin typeface="Arial" panose="020B0604020202020204" pitchFamily="34" charset="0"/>
              </a:rPr>
              <a:t> instruction. The machine always follows the branch. </a:t>
            </a:r>
            <a:r>
              <a:rPr lang="en-US" altLang="he-IL">
                <a:latin typeface="Times New Roman" panose="02020603050405020304" pitchFamily="18" charset="0"/>
              </a:rPr>
              <a:t>j</a:t>
            </a:r>
            <a:r>
              <a:rPr lang="en-US" altLang="he-IL">
                <a:latin typeface="Arial" panose="020B0604020202020204" pitchFamily="34" charset="0"/>
              </a:rPr>
              <a:t> is of the </a:t>
            </a:r>
            <a:r>
              <a:rPr lang="en-US" altLang="he-IL" i="1">
                <a:latin typeface="Arial" panose="020B0604020202020204" pitchFamily="34" charset="0"/>
              </a:rPr>
              <a:t>J-format</a:t>
            </a:r>
            <a:r>
              <a:rPr lang="en-US" altLang="he-IL">
                <a:latin typeface="Arial" panose="020B0604020202020204" pitchFamily="34" charset="0"/>
              </a:rPr>
              <a:t>, 6 bits for opcode and 26 for jump address.</a:t>
            </a:r>
          </a:p>
        </p:txBody>
      </p:sp>
      <p:pic>
        <p:nvPicPr>
          <p:cNvPr id="19463" name="Picture 8" descr="C:\Donny\JCT\ca\F0308.WMF">
            <a:extLst>
              <a:ext uri="{FF2B5EF4-FFF2-40B4-BE49-F238E27FC236}">
                <a16:creationId xmlns:a16="http://schemas.microsoft.com/office/drawing/2014/main" id="{42056DBF-6F11-55BD-9286-5D5A4CD11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3352800"/>
            <a:ext cx="4065588" cy="318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a:extLst>
              <a:ext uri="{FF2B5EF4-FFF2-40B4-BE49-F238E27FC236}">
                <a16:creationId xmlns:a16="http://schemas.microsoft.com/office/drawing/2014/main" id="{2612283F-0897-4A3C-C385-BFE0BDEB4F02}"/>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B9588B03-D840-46C7-9284-7A35F540BBC9}" type="slidenum">
              <a:rPr lang="he-IL" altLang="en-US" sz="1800">
                <a:latin typeface="Arial" panose="020B0604020202020204" pitchFamily="34" charset="0"/>
              </a:rPr>
              <a:pPr/>
              <a:t>19</a:t>
            </a:fld>
            <a:endParaRPr lang="en-US" altLang="en-US" sz="1800">
              <a:latin typeface="Arial" panose="020B0604020202020204" pitchFamily="34" charset="0"/>
            </a:endParaRPr>
          </a:p>
        </p:txBody>
      </p:sp>
      <p:sp>
        <p:nvSpPr>
          <p:cNvPr id="20483" name="Rectangle 2">
            <a:extLst>
              <a:ext uri="{FF2B5EF4-FFF2-40B4-BE49-F238E27FC236}">
                <a16:creationId xmlns:a16="http://schemas.microsoft.com/office/drawing/2014/main" id="{A3BDFED6-5545-184C-5E15-7BF9D4633868}"/>
              </a:ext>
            </a:extLst>
          </p:cNvPr>
          <p:cNvSpPr>
            <a:spLocks noGrp="1" noChangeArrowheads="1"/>
          </p:cNvSpPr>
          <p:nvPr>
            <p:ph type="title"/>
          </p:nvPr>
        </p:nvSpPr>
        <p:spPr/>
        <p:txBody>
          <a:bodyPr/>
          <a:lstStyle/>
          <a:p>
            <a:r>
              <a:rPr lang="en-US" altLang="he-IL"/>
              <a:t>Loops</a:t>
            </a:r>
          </a:p>
        </p:txBody>
      </p:sp>
      <p:sp>
        <p:nvSpPr>
          <p:cNvPr id="20484" name="Rectangle 3">
            <a:extLst>
              <a:ext uri="{FF2B5EF4-FFF2-40B4-BE49-F238E27FC236}">
                <a16:creationId xmlns:a16="http://schemas.microsoft.com/office/drawing/2014/main" id="{621CBDCE-9391-BA36-5F7A-849F148EB680}"/>
              </a:ext>
            </a:extLst>
          </p:cNvPr>
          <p:cNvSpPr>
            <a:spLocks noGrp="1" noChangeArrowheads="1"/>
          </p:cNvSpPr>
          <p:nvPr>
            <p:ph type="body" sz="half" idx="1"/>
          </p:nvPr>
        </p:nvSpPr>
        <p:spPr>
          <a:xfrm>
            <a:off x="228600" y="990600"/>
            <a:ext cx="8686800" cy="5638800"/>
          </a:xfrm>
        </p:spPr>
        <p:txBody>
          <a:bodyPr/>
          <a:lstStyle/>
          <a:p>
            <a:pPr>
              <a:buFontTx/>
              <a:buNone/>
            </a:pPr>
            <a:r>
              <a:rPr lang="en-US" altLang="he-IL">
                <a:latin typeface="Courier New" panose="02070309020205020404" pitchFamily="49" charset="0"/>
              </a:rPr>
              <a:t>Loop: g=g+A[i];</a:t>
            </a:r>
          </a:p>
          <a:p>
            <a:pPr>
              <a:buFontTx/>
              <a:buNone/>
            </a:pPr>
            <a:r>
              <a:rPr lang="en-US" altLang="he-IL">
                <a:latin typeface="Courier New" panose="02070309020205020404" pitchFamily="49" charset="0"/>
              </a:rPr>
              <a:t>		  i=i+j;</a:t>
            </a:r>
          </a:p>
          <a:p>
            <a:pPr>
              <a:buFontTx/>
              <a:buNone/>
            </a:pPr>
            <a:r>
              <a:rPr lang="en-US" altLang="he-IL">
                <a:latin typeface="Courier New" panose="02070309020205020404" pitchFamily="49" charset="0"/>
              </a:rPr>
              <a:t>      if(i!=h) goto Loop;</a:t>
            </a:r>
          </a:p>
          <a:p>
            <a:pPr>
              <a:buFontTx/>
              <a:buNone/>
            </a:pPr>
            <a:r>
              <a:rPr lang="en-US" altLang="he-IL"/>
              <a:t>will compile into:</a:t>
            </a:r>
            <a:endParaRPr lang="en-US" altLang="he-IL">
              <a:latin typeface="Courier New" panose="02070309020205020404" pitchFamily="49" charset="0"/>
            </a:endParaRPr>
          </a:p>
          <a:p>
            <a:pPr>
              <a:buFontTx/>
              <a:buNone/>
            </a:pPr>
            <a:r>
              <a:rPr lang="en-US" altLang="he-IL">
                <a:latin typeface="Courier New" panose="02070309020205020404" pitchFamily="49" charset="0"/>
              </a:rPr>
              <a:t>Loop: add $t1,$s3,$s3 # $t1=2*i</a:t>
            </a:r>
          </a:p>
          <a:p>
            <a:pPr>
              <a:buFontTx/>
              <a:buNone/>
            </a:pPr>
            <a:r>
              <a:rPr lang="en-US" altLang="he-IL">
                <a:latin typeface="Courier New" panose="02070309020205020404" pitchFamily="49" charset="0"/>
              </a:rPr>
              <a:t>      add $t1,$t1,$t1 # $t1=4*i</a:t>
            </a:r>
          </a:p>
          <a:p>
            <a:pPr>
              <a:buFontTx/>
              <a:buNone/>
            </a:pPr>
            <a:r>
              <a:rPr lang="en-US" altLang="he-IL">
                <a:latin typeface="Courier New" panose="02070309020205020404" pitchFamily="49" charset="0"/>
              </a:rPr>
              <a:t>		  add $t1,$t1,$s5 # $t1=&amp;A[i]</a:t>
            </a:r>
          </a:p>
          <a:p>
            <a:pPr>
              <a:buFontTx/>
              <a:buNone/>
            </a:pPr>
            <a:r>
              <a:rPr lang="en-US" altLang="he-IL">
                <a:latin typeface="Courier New" panose="02070309020205020404" pitchFamily="49" charset="0"/>
              </a:rPr>
              <a:t>      lw  $t0,0($t1)  # $t0=A[i]</a:t>
            </a:r>
          </a:p>
          <a:p>
            <a:pPr>
              <a:buFontTx/>
              <a:buNone/>
            </a:pPr>
            <a:r>
              <a:rPr lang="en-US" altLang="he-IL">
                <a:latin typeface="Courier New" panose="02070309020205020404" pitchFamily="49" charset="0"/>
              </a:rPr>
              <a:t>      add $s1,$s1,$t0 # g=g+A[i]</a:t>
            </a:r>
          </a:p>
          <a:p>
            <a:pPr>
              <a:buFontTx/>
              <a:buNone/>
            </a:pPr>
            <a:r>
              <a:rPr lang="en-US" altLang="he-IL">
                <a:latin typeface="Courier New" panose="02070309020205020404" pitchFamily="49" charset="0"/>
              </a:rPr>
              <a:t>      add $s3,$s3,$s4 # i=i+j</a:t>
            </a:r>
          </a:p>
          <a:p>
            <a:pPr>
              <a:buFontTx/>
              <a:buNone/>
            </a:pPr>
            <a:r>
              <a:rPr lang="en-US" altLang="he-IL">
                <a:latin typeface="Courier New" panose="02070309020205020404" pitchFamily="49" charset="0"/>
              </a:rPr>
              <a:t>      bne $s3,$s2,Loop# branch if i!=h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A3AF31-A50A-5DF3-4F19-824E00C12345}"/>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D8BE5F8B-A70C-405B-AE51-651E7A287549}" type="slidenum">
              <a:rPr lang="he-IL" altLang="en-US" sz="1800">
                <a:latin typeface="Arial" panose="020B0604020202020204" pitchFamily="34" charset="0"/>
              </a:rPr>
              <a:pPr/>
              <a:t>20</a:t>
            </a:fld>
            <a:endParaRPr lang="en-US" altLang="en-US" sz="1800">
              <a:latin typeface="Arial" panose="020B0604020202020204" pitchFamily="34" charset="0"/>
            </a:endParaRPr>
          </a:p>
        </p:txBody>
      </p:sp>
      <p:sp>
        <p:nvSpPr>
          <p:cNvPr id="21507" name="Rectangle 2">
            <a:extLst>
              <a:ext uri="{FF2B5EF4-FFF2-40B4-BE49-F238E27FC236}">
                <a16:creationId xmlns:a16="http://schemas.microsoft.com/office/drawing/2014/main" id="{0EAB1312-7D80-4A9D-7718-8AB867A051B1}"/>
              </a:ext>
            </a:extLst>
          </p:cNvPr>
          <p:cNvSpPr>
            <a:spLocks noGrp="1" noChangeArrowheads="1"/>
          </p:cNvSpPr>
          <p:nvPr>
            <p:ph type="title"/>
          </p:nvPr>
        </p:nvSpPr>
        <p:spPr/>
        <p:txBody>
          <a:bodyPr/>
          <a:lstStyle/>
          <a:p>
            <a:r>
              <a:rPr lang="en-US" altLang="he-IL"/>
              <a:t>Compiling a while Loop</a:t>
            </a:r>
          </a:p>
        </p:txBody>
      </p:sp>
      <p:sp>
        <p:nvSpPr>
          <p:cNvPr id="21508" name="Rectangle 3">
            <a:extLst>
              <a:ext uri="{FF2B5EF4-FFF2-40B4-BE49-F238E27FC236}">
                <a16:creationId xmlns:a16="http://schemas.microsoft.com/office/drawing/2014/main" id="{FFC57253-643D-3D11-ECEA-EF31EA88E562}"/>
              </a:ext>
            </a:extLst>
          </p:cNvPr>
          <p:cNvSpPr>
            <a:spLocks noGrp="1" noChangeArrowheads="1"/>
          </p:cNvSpPr>
          <p:nvPr>
            <p:ph type="body" idx="1"/>
          </p:nvPr>
        </p:nvSpPr>
        <p:spPr/>
        <p:txBody>
          <a:bodyPr/>
          <a:lstStyle/>
          <a:p>
            <a:pPr>
              <a:buFontTx/>
              <a:buNone/>
            </a:pPr>
            <a:r>
              <a:rPr lang="en-US" altLang="he-IL" sz="2800">
                <a:latin typeface="Courier New" panose="02070309020205020404" pitchFamily="49" charset="0"/>
              </a:rPr>
              <a:t>while(A[i]==k)</a:t>
            </a:r>
          </a:p>
          <a:p>
            <a:pPr>
              <a:buFontTx/>
              <a:buNone/>
            </a:pPr>
            <a:r>
              <a:rPr lang="en-US" altLang="he-IL" sz="2800">
                <a:latin typeface="Courier New" panose="02070309020205020404" pitchFamily="49" charset="0"/>
              </a:rPr>
              <a:t>	i=i+j;</a:t>
            </a:r>
          </a:p>
          <a:p>
            <a:pPr>
              <a:buFontTx/>
              <a:buNone/>
            </a:pPr>
            <a:r>
              <a:rPr lang="en-US" altLang="he-IL" sz="2800"/>
              <a:t>will compile into:</a:t>
            </a:r>
            <a:endParaRPr lang="en-US" altLang="he-IL" sz="2800">
              <a:latin typeface="Courier New" panose="02070309020205020404" pitchFamily="49" charset="0"/>
            </a:endParaRPr>
          </a:p>
          <a:p>
            <a:pPr>
              <a:buFontTx/>
              <a:buNone/>
            </a:pPr>
            <a:r>
              <a:rPr lang="en-US" altLang="he-IL" sz="2800">
                <a:latin typeface="Courier New" panose="02070309020205020404" pitchFamily="49" charset="0"/>
              </a:rPr>
              <a:t>Loop: add $t1,$s3,$s3 # $t1=2*i</a:t>
            </a:r>
          </a:p>
          <a:p>
            <a:pPr>
              <a:buFontTx/>
              <a:buNone/>
            </a:pPr>
            <a:r>
              <a:rPr lang="en-US" altLang="he-IL" sz="2800">
                <a:latin typeface="Courier New" panose="02070309020205020404" pitchFamily="49" charset="0"/>
              </a:rPr>
              <a:t>      add $t1,$t1,$t1 # $t1=4*i</a:t>
            </a:r>
          </a:p>
          <a:p>
            <a:pPr>
              <a:buFontTx/>
              <a:buNone/>
            </a:pPr>
            <a:r>
              <a:rPr lang="en-US" altLang="he-IL" sz="2800">
                <a:latin typeface="Courier New" panose="02070309020205020404" pitchFamily="49" charset="0"/>
              </a:rPr>
              <a:t>		  add $t1,$t1,$s5 # $t1=&amp;A[i]</a:t>
            </a:r>
          </a:p>
          <a:p>
            <a:pPr>
              <a:buFontTx/>
              <a:buNone/>
            </a:pPr>
            <a:r>
              <a:rPr lang="en-US" altLang="he-IL" sz="2800">
                <a:latin typeface="Courier New" panose="02070309020205020404" pitchFamily="49" charset="0"/>
              </a:rPr>
              <a:t>      lw  $t0,0($t1)  # $t0=A[i]</a:t>
            </a:r>
          </a:p>
          <a:p>
            <a:pPr>
              <a:buFontTx/>
              <a:buNone/>
            </a:pPr>
            <a:r>
              <a:rPr lang="en-US" altLang="he-IL" sz="2800">
                <a:latin typeface="Courier New" panose="02070309020205020404" pitchFamily="49" charset="0"/>
              </a:rPr>
              <a:t>      bne $t0,$s6,Exit# if A[i]!=k exit</a:t>
            </a:r>
          </a:p>
          <a:p>
            <a:pPr>
              <a:buFontTx/>
              <a:buNone/>
            </a:pPr>
            <a:r>
              <a:rPr lang="en-US" altLang="he-IL" sz="2800">
                <a:latin typeface="Courier New" panose="02070309020205020404" pitchFamily="49" charset="0"/>
              </a:rPr>
              <a:t>      add $s3,$s3,$s4 # i=i+j</a:t>
            </a:r>
          </a:p>
          <a:p>
            <a:pPr>
              <a:buFontTx/>
              <a:buNone/>
            </a:pPr>
            <a:r>
              <a:rPr lang="en-US" altLang="he-IL" sz="2800">
                <a:latin typeface="Courier New" panose="02070309020205020404" pitchFamily="49" charset="0"/>
              </a:rPr>
              <a:t>      j   Loop</a:t>
            </a:r>
          </a:p>
          <a:p>
            <a:pPr>
              <a:buFontTx/>
              <a:buNone/>
            </a:pPr>
            <a:r>
              <a:rPr lang="en-US" altLang="he-IL" sz="2800">
                <a:latin typeface="Courier New" panose="02070309020205020404" pitchFamily="49" charset="0"/>
              </a:rPr>
              <a:t>Exit: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4DFD47-0586-44D7-B278-35A9B501475F}"/>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994D791C-3013-462F-A974-1FBD2CFFCC1E}" type="slidenum">
              <a:rPr lang="he-IL" altLang="en-US" sz="1800">
                <a:latin typeface="Arial" panose="020B0604020202020204" pitchFamily="34" charset="0"/>
              </a:rPr>
              <a:pPr/>
              <a:t>21</a:t>
            </a:fld>
            <a:endParaRPr lang="en-US" altLang="en-US" sz="1800">
              <a:latin typeface="Arial" panose="020B0604020202020204" pitchFamily="34" charset="0"/>
            </a:endParaRPr>
          </a:p>
        </p:txBody>
      </p:sp>
      <p:sp>
        <p:nvSpPr>
          <p:cNvPr id="22531" name="Rectangle 2">
            <a:extLst>
              <a:ext uri="{FF2B5EF4-FFF2-40B4-BE49-F238E27FC236}">
                <a16:creationId xmlns:a16="http://schemas.microsoft.com/office/drawing/2014/main" id="{D3331C09-B9A2-1A25-FF09-B13E9A594F87}"/>
              </a:ext>
            </a:extLst>
          </p:cNvPr>
          <p:cNvSpPr>
            <a:spLocks noGrp="1" noChangeArrowheads="1"/>
          </p:cNvSpPr>
          <p:nvPr>
            <p:ph type="title"/>
          </p:nvPr>
        </p:nvSpPr>
        <p:spPr/>
        <p:txBody>
          <a:bodyPr/>
          <a:lstStyle/>
          <a:p>
            <a:r>
              <a:rPr lang="en-US" altLang="he-IL"/>
              <a:t>Set on less than</a:t>
            </a:r>
          </a:p>
        </p:txBody>
      </p:sp>
      <p:sp>
        <p:nvSpPr>
          <p:cNvPr id="22532" name="Rectangle 3">
            <a:extLst>
              <a:ext uri="{FF2B5EF4-FFF2-40B4-BE49-F238E27FC236}">
                <a16:creationId xmlns:a16="http://schemas.microsoft.com/office/drawing/2014/main" id="{547133CD-47B1-5241-7F36-BD91E4204D3B}"/>
              </a:ext>
            </a:extLst>
          </p:cNvPr>
          <p:cNvSpPr>
            <a:spLocks noGrp="1" noChangeArrowheads="1"/>
          </p:cNvSpPr>
          <p:nvPr>
            <p:ph type="body" idx="1"/>
          </p:nvPr>
        </p:nvSpPr>
        <p:spPr/>
        <p:txBody>
          <a:bodyPr/>
          <a:lstStyle/>
          <a:p>
            <a:r>
              <a:rPr lang="en-US" altLang="he-IL" sz="2800"/>
              <a:t>In order to see if a variable is less than another variable (not just unequal), like in a </a:t>
            </a:r>
            <a:r>
              <a:rPr lang="en-US" altLang="he-IL" sz="2800">
                <a:latin typeface="Courier New" panose="02070309020205020404" pitchFamily="49" charset="0"/>
              </a:rPr>
              <a:t>for</a:t>
            </a:r>
            <a:r>
              <a:rPr lang="en-US" altLang="he-IL" sz="2800"/>
              <a:t> loop, the MIPS instruction </a:t>
            </a:r>
            <a:r>
              <a:rPr lang="en-US" altLang="he-IL" sz="2800" i="1"/>
              <a:t>set on less then</a:t>
            </a:r>
            <a:r>
              <a:rPr lang="en-US" altLang="he-IL" sz="2800"/>
              <a:t> or </a:t>
            </a:r>
            <a:r>
              <a:rPr lang="en-US" altLang="he-IL" sz="2800" i="1"/>
              <a:t>slt</a:t>
            </a:r>
            <a:r>
              <a:rPr lang="en-US" altLang="he-IL" sz="2800"/>
              <a:t> is used.</a:t>
            </a:r>
            <a:br>
              <a:rPr lang="en-US" altLang="he-IL" sz="2800"/>
            </a:br>
            <a:r>
              <a:rPr lang="en-US" altLang="he-IL" sz="2800"/>
              <a:t>For example:</a:t>
            </a:r>
            <a:br>
              <a:rPr lang="en-US" altLang="he-IL" sz="2800"/>
            </a:br>
            <a:r>
              <a:rPr lang="en-US" altLang="he-IL" sz="2800">
                <a:latin typeface="Courier New" panose="02070309020205020404" pitchFamily="49" charset="0"/>
              </a:rPr>
              <a:t>slt $t0,$s3,$s4</a:t>
            </a:r>
            <a:br>
              <a:rPr lang="en-US" altLang="he-IL" sz="2800">
                <a:latin typeface="Courier New" panose="02070309020205020404" pitchFamily="49" charset="0"/>
              </a:rPr>
            </a:br>
            <a:r>
              <a:rPr lang="en-US" altLang="he-IL" sz="2800">
                <a:latin typeface="Courier New" panose="02070309020205020404" pitchFamily="49" charset="0"/>
              </a:rPr>
              <a:t>$t0 </a:t>
            </a:r>
            <a:r>
              <a:rPr lang="en-US" altLang="he-IL" sz="2800"/>
              <a:t>is set to 1 if</a:t>
            </a:r>
            <a:r>
              <a:rPr lang="en-US" altLang="he-IL" sz="2800">
                <a:latin typeface="Courier New" panose="02070309020205020404" pitchFamily="49" charset="0"/>
              </a:rPr>
              <a:t> $s3</a:t>
            </a:r>
            <a:r>
              <a:rPr lang="en-US" altLang="he-IL" sz="2800"/>
              <a:t>&lt;</a:t>
            </a:r>
            <a:r>
              <a:rPr lang="en-US" altLang="he-IL" sz="2800">
                <a:latin typeface="Courier New" panose="02070309020205020404" pitchFamily="49" charset="0"/>
              </a:rPr>
              <a:t>$s4</a:t>
            </a:r>
            <a:r>
              <a:rPr lang="en-US" altLang="he-IL" sz="2800"/>
              <a:t>. Otherwise it is set to 0.</a:t>
            </a:r>
          </a:p>
          <a:p>
            <a:r>
              <a:rPr lang="en-US" altLang="he-IL" sz="2800"/>
              <a:t>The C code</a:t>
            </a:r>
            <a:r>
              <a:rPr lang="en-US" altLang="he-IL" sz="2800">
                <a:latin typeface="Courier New" panose="02070309020205020404" pitchFamily="49" charset="0"/>
              </a:rPr>
              <a:t> if(a&lt;b)</a:t>
            </a:r>
            <a:r>
              <a:rPr lang="en-US" altLang="he-IL" sz="2800"/>
              <a:t> would compile as:</a:t>
            </a:r>
            <a:br>
              <a:rPr lang="en-US" altLang="he-IL" sz="2800"/>
            </a:br>
            <a:r>
              <a:rPr lang="en-US" altLang="he-IL" sz="2800">
                <a:latin typeface="Courier New" panose="02070309020205020404" pitchFamily="49" charset="0"/>
              </a:rPr>
              <a:t>slt $t0,$s0,$s1 #$t0=1 if a&lt;b</a:t>
            </a:r>
            <a:br>
              <a:rPr lang="en-US" altLang="he-IL" sz="2800">
                <a:latin typeface="Courier New" panose="02070309020205020404" pitchFamily="49" charset="0"/>
              </a:rPr>
            </a:br>
            <a:r>
              <a:rPr lang="en-US" altLang="he-IL" sz="2800">
                <a:latin typeface="Courier New" panose="02070309020205020404" pitchFamily="49" charset="0"/>
              </a:rPr>
              <a:t>bne $t0,$zero,Less#goto Less if $t0!=0</a:t>
            </a:r>
          </a:p>
          <a:p>
            <a:r>
              <a:rPr lang="en-US" altLang="he-IL" sz="2800">
                <a:latin typeface="Courier New" panose="02070309020205020404" pitchFamily="49" charset="0"/>
              </a:rPr>
              <a:t>$zero </a:t>
            </a:r>
            <a:r>
              <a:rPr lang="en-US" altLang="he-IL" sz="2800"/>
              <a:t>is register 0 which always contains 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F4712C-0AC4-F6B3-F4F5-8FD22DA4C6BD}"/>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6BA2CEAA-DD51-4EDE-BAF2-B88448F51497}" type="slidenum">
              <a:rPr lang="he-IL" altLang="en-US" sz="1800">
                <a:latin typeface="Arial" panose="020B0604020202020204" pitchFamily="34" charset="0"/>
              </a:rPr>
              <a:pPr/>
              <a:t>22</a:t>
            </a:fld>
            <a:endParaRPr lang="en-US" altLang="en-US" sz="1800">
              <a:latin typeface="Arial" panose="020B0604020202020204" pitchFamily="34" charset="0"/>
            </a:endParaRPr>
          </a:p>
        </p:txBody>
      </p:sp>
      <p:sp>
        <p:nvSpPr>
          <p:cNvPr id="23555" name="Rectangle 2">
            <a:extLst>
              <a:ext uri="{FF2B5EF4-FFF2-40B4-BE49-F238E27FC236}">
                <a16:creationId xmlns:a16="http://schemas.microsoft.com/office/drawing/2014/main" id="{BFB505B4-E6B2-664C-F3E4-0785263B2379}"/>
              </a:ext>
            </a:extLst>
          </p:cNvPr>
          <p:cNvSpPr>
            <a:spLocks noGrp="1" noChangeArrowheads="1"/>
          </p:cNvSpPr>
          <p:nvPr>
            <p:ph type="title"/>
          </p:nvPr>
        </p:nvSpPr>
        <p:spPr/>
        <p:txBody>
          <a:bodyPr/>
          <a:lstStyle/>
          <a:p>
            <a:r>
              <a:rPr lang="en-US" altLang="he-IL"/>
              <a:t>Why Not a blt</a:t>
            </a:r>
          </a:p>
        </p:txBody>
      </p:sp>
      <p:sp>
        <p:nvSpPr>
          <p:cNvPr id="23556" name="Rectangle 3">
            <a:extLst>
              <a:ext uri="{FF2B5EF4-FFF2-40B4-BE49-F238E27FC236}">
                <a16:creationId xmlns:a16="http://schemas.microsoft.com/office/drawing/2014/main" id="{7BF1FFE4-FF6C-3D71-EACA-B552F5BCFF1A}"/>
              </a:ext>
            </a:extLst>
          </p:cNvPr>
          <p:cNvSpPr>
            <a:spLocks noGrp="1" noChangeArrowheads="1"/>
          </p:cNvSpPr>
          <p:nvPr>
            <p:ph type="body" idx="1"/>
          </p:nvPr>
        </p:nvSpPr>
        <p:spPr/>
        <p:txBody>
          <a:bodyPr/>
          <a:lstStyle/>
          <a:p>
            <a:r>
              <a:rPr lang="en-US" altLang="he-IL"/>
              <a:t>Why didn't the MIPS designers add a </a:t>
            </a:r>
            <a:r>
              <a:rPr lang="en-US" altLang="he-IL" i="1"/>
              <a:t>blt (branch on less than) </a:t>
            </a:r>
            <a:r>
              <a:rPr lang="en-US" altLang="he-IL"/>
              <a:t>instruction?</a:t>
            </a:r>
          </a:p>
          <a:p>
            <a:r>
              <a:rPr lang="en-US" altLang="he-IL"/>
              <a:t>The reason is simplicity. A </a:t>
            </a:r>
            <a:r>
              <a:rPr lang="en-US" altLang="he-IL" i="1"/>
              <a:t>blt</a:t>
            </a:r>
            <a:r>
              <a:rPr lang="en-US" altLang="he-IL"/>
              <a:t> instruction would be to complicated. Either it would stretch the clock cycle or it would take extra clock cycles to perform.</a:t>
            </a:r>
          </a:p>
          <a:p>
            <a:r>
              <a:rPr lang="en-US" altLang="he-IL"/>
              <a:t>Two faster instruction are more useful.</a:t>
            </a:r>
          </a:p>
          <a:p>
            <a:endParaRPr lang="en-US" altLang="he-IL" sz="2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FD3C9F-2C70-FCAE-F8FE-14B60AA055B8}"/>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A8546A20-F9CE-4D60-9F06-FC01FF8A7593}" type="slidenum">
              <a:rPr lang="he-IL" altLang="en-US" sz="1800">
                <a:latin typeface="Arial" panose="020B0604020202020204" pitchFamily="34" charset="0"/>
              </a:rPr>
              <a:pPr/>
              <a:t>23</a:t>
            </a:fld>
            <a:endParaRPr lang="en-US" altLang="en-US" sz="1800">
              <a:latin typeface="Arial" panose="020B0604020202020204" pitchFamily="34" charset="0"/>
            </a:endParaRPr>
          </a:p>
        </p:txBody>
      </p:sp>
      <p:sp>
        <p:nvSpPr>
          <p:cNvPr id="24579" name="Rectangle 2">
            <a:extLst>
              <a:ext uri="{FF2B5EF4-FFF2-40B4-BE49-F238E27FC236}">
                <a16:creationId xmlns:a16="http://schemas.microsoft.com/office/drawing/2014/main" id="{9C2916E5-3BC2-292C-6E56-08DFAA430D2E}"/>
              </a:ext>
            </a:extLst>
          </p:cNvPr>
          <p:cNvSpPr>
            <a:spLocks noGrp="1" noChangeArrowheads="1"/>
          </p:cNvSpPr>
          <p:nvPr>
            <p:ph type="title"/>
          </p:nvPr>
        </p:nvSpPr>
        <p:spPr/>
        <p:txBody>
          <a:bodyPr/>
          <a:lstStyle/>
          <a:p>
            <a:r>
              <a:rPr lang="en-US" altLang="he-IL"/>
              <a:t>Procedures</a:t>
            </a:r>
          </a:p>
        </p:txBody>
      </p:sp>
      <p:sp>
        <p:nvSpPr>
          <p:cNvPr id="24580" name="Rectangle 3">
            <a:extLst>
              <a:ext uri="{FF2B5EF4-FFF2-40B4-BE49-F238E27FC236}">
                <a16:creationId xmlns:a16="http://schemas.microsoft.com/office/drawing/2014/main" id="{62F601A4-5CEE-DA92-1E27-13869054905F}"/>
              </a:ext>
            </a:extLst>
          </p:cNvPr>
          <p:cNvSpPr>
            <a:spLocks noGrp="1" noChangeArrowheads="1"/>
          </p:cNvSpPr>
          <p:nvPr>
            <p:ph type="body" idx="1"/>
          </p:nvPr>
        </p:nvSpPr>
        <p:spPr/>
        <p:txBody>
          <a:bodyPr/>
          <a:lstStyle/>
          <a:p>
            <a:r>
              <a:rPr lang="en-US" altLang="he-IL" sz="2800"/>
              <a:t>When executing a procedure (function in C) the program must follow the next 6 steps:</a:t>
            </a:r>
          </a:p>
          <a:p>
            <a:pPr>
              <a:buFontTx/>
              <a:buNone/>
            </a:pPr>
            <a:r>
              <a:rPr lang="en-US" altLang="he-IL" sz="2800"/>
              <a:t>1. Place parameters in a place the procedure can access them.</a:t>
            </a:r>
          </a:p>
          <a:p>
            <a:pPr>
              <a:buFontTx/>
              <a:buNone/>
            </a:pPr>
            <a:r>
              <a:rPr lang="en-US" altLang="he-IL" sz="2800"/>
              <a:t>2. Jump to the procedure code.</a:t>
            </a:r>
          </a:p>
          <a:p>
            <a:pPr>
              <a:buFontTx/>
              <a:buNone/>
            </a:pPr>
            <a:r>
              <a:rPr lang="en-US" altLang="he-IL" sz="2800"/>
              <a:t>3. Allocate storage needed for the procedure.</a:t>
            </a:r>
          </a:p>
          <a:p>
            <a:pPr>
              <a:buFontTx/>
              <a:buNone/>
            </a:pPr>
            <a:r>
              <a:rPr lang="en-US" altLang="he-IL" sz="2800"/>
              <a:t>4. Perform the task.</a:t>
            </a:r>
          </a:p>
          <a:p>
            <a:pPr>
              <a:buFontTx/>
              <a:buNone/>
            </a:pPr>
            <a:r>
              <a:rPr lang="en-US" altLang="he-IL" sz="2800"/>
              <a:t>5. Place the result(s) in a place the calling program can access.</a:t>
            </a:r>
          </a:p>
          <a:p>
            <a:pPr>
              <a:buFontTx/>
              <a:buNone/>
            </a:pPr>
            <a:r>
              <a:rPr lang="en-US" altLang="he-IL" sz="2800"/>
              <a:t>6. Return to the point of origin.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5F656A-746C-2473-1E25-FC4A2CC7A148}"/>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514F2B27-8DAF-49BC-BAFA-707209C0DDC0}" type="slidenum">
              <a:rPr lang="he-IL" altLang="en-US" sz="1800">
                <a:latin typeface="Arial" panose="020B0604020202020204" pitchFamily="34" charset="0"/>
              </a:rPr>
              <a:pPr/>
              <a:t>24</a:t>
            </a:fld>
            <a:endParaRPr lang="en-US" altLang="en-US" sz="1800">
              <a:latin typeface="Arial" panose="020B0604020202020204" pitchFamily="34" charset="0"/>
            </a:endParaRPr>
          </a:p>
        </p:txBody>
      </p:sp>
      <p:sp>
        <p:nvSpPr>
          <p:cNvPr id="25603" name="Rectangle 2">
            <a:extLst>
              <a:ext uri="{FF2B5EF4-FFF2-40B4-BE49-F238E27FC236}">
                <a16:creationId xmlns:a16="http://schemas.microsoft.com/office/drawing/2014/main" id="{3394E2E4-05F1-F769-1AB1-2DF9B63C545C}"/>
              </a:ext>
            </a:extLst>
          </p:cNvPr>
          <p:cNvSpPr>
            <a:spLocks noGrp="1" noChangeArrowheads="1"/>
          </p:cNvSpPr>
          <p:nvPr>
            <p:ph type="title"/>
          </p:nvPr>
        </p:nvSpPr>
        <p:spPr/>
        <p:txBody>
          <a:bodyPr/>
          <a:lstStyle/>
          <a:p>
            <a:r>
              <a:rPr lang="en-US" altLang="he-IL"/>
              <a:t>Registers for Procedures</a:t>
            </a:r>
          </a:p>
        </p:txBody>
      </p:sp>
      <p:sp>
        <p:nvSpPr>
          <p:cNvPr id="25604" name="Rectangle 3">
            <a:extLst>
              <a:ext uri="{FF2B5EF4-FFF2-40B4-BE49-F238E27FC236}">
                <a16:creationId xmlns:a16="http://schemas.microsoft.com/office/drawing/2014/main" id="{D37A39BC-86E4-B7B7-D2B3-E73D0AD1077E}"/>
              </a:ext>
            </a:extLst>
          </p:cNvPr>
          <p:cNvSpPr>
            <a:spLocks noGrp="1" noChangeArrowheads="1"/>
          </p:cNvSpPr>
          <p:nvPr>
            <p:ph type="body" idx="1"/>
          </p:nvPr>
        </p:nvSpPr>
        <p:spPr/>
        <p:txBody>
          <a:bodyPr/>
          <a:lstStyle/>
          <a:p>
            <a:r>
              <a:rPr lang="en-US" altLang="he-IL" sz="2800"/>
              <a:t>MIPS software allocates the following of its 32 registers for procedure calling:</a:t>
            </a:r>
          </a:p>
          <a:p>
            <a:pPr lvl="1"/>
            <a:r>
              <a:rPr lang="en-US" altLang="he-IL" sz="2400">
                <a:latin typeface="Courier New" panose="02070309020205020404" pitchFamily="49" charset="0"/>
              </a:rPr>
              <a:t>$a0 - $a3</a:t>
            </a:r>
            <a:r>
              <a:rPr lang="en-US" altLang="he-IL" sz="2400" b="1"/>
              <a:t>: 4 argument registers in which to pass parameters.</a:t>
            </a:r>
          </a:p>
          <a:p>
            <a:pPr lvl="1"/>
            <a:r>
              <a:rPr lang="en-US" altLang="he-IL" sz="2400">
                <a:latin typeface="Courier New" panose="02070309020205020404" pitchFamily="49" charset="0"/>
              </a:rPr>
              <a:t>$v0 - $v1</a:t>
            </a:r>
            <a:r>
              <a:rPr lang="en-US" altLang="he-IL" sz="2400" b="1"/>
              <a:t>: 2 value registers in which to return values</a:t>
            </a:r>
          </a:p>
          <a:p>
            <a:pPr lvl="1"/>
            <a:r>
              <a:rPr lang="en-US" altLang="he-IL" sz="2400">
                <a:latin typeface="Courier New" panose="02070309020205020404" pitchFamily="49" charset="0"/>
              </a:rPr>
              <a:t>$ra</a:t>
            </a:r>
            <a:r>
              <a:rPr lang="en-US" altLang="he-IL" sz="2400" b="1"/>
              <a:t>: 1 return address register to return to point of origin.</a:t>
            </a:r>
            <a:endParaRPr lang="en-US" altLang="he-IL" sz="2400"/>
          </a:p>
          <a:p>
            <a:r>
              <a:rPr lang="en-US" altLang="he-IL" sz="2800"/>
              <a:t>2 new instructions that support procedures are:</a:t>
            </a:r>
            <a:br>
              <a:rPr lang="en-US" altLang="he-IL" sz="2800"/>
            </a:br>
            <a:r>
              <a:rPr lang="en-US" altLang="he-IL" sz="2400">
                <a:latin typeface="Courier New" panose="02070309020205020404" pitchFamily="49" charset="0"/>
              </a:rPr>
              <a:t>jal ProcedureAddress</a:t>
            </a:r>
            <a:br>
              <a:rPr lang="en-US" altLang="he-IL" sz="2400" b="1">
                <a:latin typeface="Courier New" panose="02070309020205020404" pitchFamily="49" charset="0"/>
              </a:rPr>
            </a:br>
            <a:r>
              <a:rPr lang="en-US" altLang="he-IL" sz="2400" b="1"/>
              <a:t>Jump and link, jump to the procedure and save the address of the following instruction in </a:t>
            </a:r>
            <a:r>
              <a:rPr lang="en-US" altLang="he-IL" sz="2400" b="1">
                <a:latin typeface="Courier New" panose="02070309020205020404" pitchFamily="49" charset="0"/>
              </a:rPr>
              <a:t>$ra</a:t>
            </a:r>
            <a:r>
              <a:rPr lang="en-US" altLang="he-IL" sz="2400" b="1"/>
              <a:t>.</a:t>
            </a:r>
            <a:br>
              <a:rPr lang="en-US" altLang="he-IL" sz="2400" b="1"/>
            </a:br>
            <a:r>
              <a:rPr lang="en-US" altLang="he-IL" sz="2400">
                <a:latin typeface="Courier New" panose="02070309020205020404" pitchFamily="49" charset="0"/>
              </a:rPr>
              <a:t>jr register</a:t>
            </a:r>
            <a:br>
              <a:rPr lang="en-US" altLang="he-IL" sz="2400" b="1">
                <a:latin typeface="Courier New" panose="02070309020205020404" pitchFamily="49" charset="0"/>
              </a:rPr>
            </a:br>
            <a:r>
              <a:rPr lang="en-US" altLang="he-IL" sz="2400" b="1"/>
              <a:t>Jump register, jump to the address in the register.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E39CD6-CDA9-7C51-BE3D-A82AFAFF1EC9}"/>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0048AD21-B6E5-4D08-8E76-26AD1413D7BD}" type="slidenum">
              <a:rPr lang="he-IL" altLang="en-US" sz="1800">
                <a:latin typeface="Arial" panose="020B0604020202020204" pitchFamily="34" charset="0"/>
              </a:rPr>
              <a:pPr/>
              <a:t>25</a:t>
            </a:fld>
            <a:endParaRPr lang="en-US" altLang="en-US" sz="1800">
              <a:latin typeface="Arial" panose="020B0604020202020204" pitchFamily="34" charset="0"/>
            </a:endParaRPr>
          </a:p>
        </p:txBody>
      </p:sp>
      <p:sp>
        <p:nvSpPr>
          <p:cNvPr id="26627" name="Rectangle 2">
            <a:extLst>
              <a:ext uri="{FF2B5EF4-FFF2-40B4-BE49-F238E27FC236}">
                <a16:creationId xmlns:a16="http://schemas.microsoft.com/office/drawing/2014/main" id="{680F82C2-ED28-9963-B8ED-B71C98D6E14D}"/>
              </a:ext>
            </a:extLst>
          </p:cNvPr>
          <p:cNvSpPr>
            <a:spLocks noGrp="1" noChangeArrowheads="1"/>
          </p:cNvSpPr>
          <p:nvPr>
            <p:ph type="title"/>
          </p:nvPr>
        </p:nvSpPr>
        <p:spPr/>
        <p:txBody>
          <a:bodyPr/>
          <a:lstStyle/>
          <a:p>
            <a:r>
              <a:rPr lang="en-US" altLang="he-IL"/>
              <a:t>Using More Registers</a:t>
            </a:r>
          </a:p>
        </p:txBody>
      </p:sp>
      <p:sp>
        <p:nvSpPr>
          <p:cNvPr id="26628" name="Rectangle 3">
            <a:extLst>
              <a:ext uri="{FF2B5EF4-FFF2-40B4-BE49-F238E27FC236}">
                <a16:creationId xmlns:a16="http://schemas.microsoft.com/office/drawing/2014/main" id="{C6779AE2-6E0B-85F4-72E5-57ADE21C5359}"/>
              </a:ext>
            </a:extLst>
          </p:cNvPr>
          <p:cNvSpPr>
            <a:spLocks noGrp="1" noChangeArrowheads="1"/>
          </p:cNvSpPr>
          <p:nvPr>
            <p:ph type="body" idx="1"/>
          </p:nvPr>
        </p:nvSpPr>
        <p:spPr/>
        <p:txBody>
          <a:bodyPr/>
          <a:lstStyle/>
          <a:p>
            <a:r>
              <a:rPr lang="en-US" altLang="he-IL" sz="2800"/>
              <a:t>If the compiler needs more than the 4 input and 2 output registers, it can use other registers.</a:t>
            </a:r>
          </a:p>
          <a:p>
            <a:r>
              <a:rPr lang="en-US" altLang="he-IL" sz="2800" b="1" u="sng">
                <a:solidFill>
                  <a:srgbClr val="FF3300"/>
                </a:solidFill>
              </a:rPr>
              <a:t>But</a:t>
            </a:r>
            <a:r>
              <a:rPr lang="en-US" altLang="he-IL" sz="2800"/>
              <a:t> it must restore the values in those registers to the values </a:t>
            </a:r>
            <a:r>
              <a:rPr lang="en-US" altLang="he-IL" sz="2800" i="1"/>
              <a:t>before</a:t>
            </a:r>
            <a:r>
              <a:rPr lang="en-US" altLang="he-IL" sz="2800"/>
              <a:t> the procedure was called.</a:t>
            </a:r>
          </a:p>
          <a:p>
            <a:r>
              <a:rPr lang="en-US" altLang="he-IL" sz="2800"/>
              <a:t>This is a case of </a:t>
            </a:r>
            <a:r>
              <a:rPr lang="en-US" altLang="he-IL" sz="2800" i="1"/>
              <a:t>register spill, </a:t>
            </a:r>
            <a:r>
              <a:rPr lang="en-US" altLang="he-IL" sz="2800"/>
              <a:t>register values are saved in memory.</a:t>
            </a:r>
          </a:p>
          <a:p>
            <a:r>
              <a:rPr lang="en-US" altLang="he-IL" sz="2800"/>
              <a:t>The ideal structure for saving registers is the </a:t>
            </a:r>
            <a:r>
              <a:rPr lang="en-US" altLang="he-IL" sz="2800" i="1"/>
              <a:t>stack,</a:t>
            </a:r>
            <a:br>
              <a:rPr lang="en-US" altLang="he-IL" sz="2800"/>
            </a:br>
            <a:r>
              <a:rPr lang="en-US" altLang="he-IL" sz="2800"/>
              <a:t>values are </a:t>
            </a:r>
            <a:r>
              <a:rPr lang="en-US" altLang="he-IL" sz="2800" i="1"/>
              <a:t>push</a:t>
            </a:r>
            <a:r>
              <a:rPr lang="en-US" altLang="he-IL" sz="2800"/>
              <a:t>ed onto the stack before the procedure call and </a:t>
            </a:r>
            <a:r>
              <a:rPr lang="en-US" altLang="he-IL" sz="2800" i="1"/>
              <a:t>pop</a:t>
            </a:r>
            <a:r>
              <a:rPr lang="en-US" altLang="he-IL" sz="2800"/>
              <a:t>ed out after.</a:t>
            </a:r>
          </a:p>
          <a:p>
            <a:r>
              <a:rPr lang="en-US" altLang="he-IL" sz="2800"/>
              <a:t>MIPS software allocates a register called the </a:t>
            </a:r>
            <a:r>
              <a:rPr lang="en-US" altLang="he-IL" sz="2800" i="1"/>
              <a:t>stack pointer</a:t>
            </a:r>
            <a:r>
              <a:rPr lang="en-US" altLang="he-IL" sz="2800"/>
              <a:t> </a:t>
            </a:r>
            <a:r>
              <a:rPr lang="en-US" altLang="he-IL" sz="2800">
                <a:latin typeface="Courier New" panose="02070309020205020404" pitchFamily="49" charset="0"/>
              </a:rPr>
              <a:t>($sp</a:t>
            </a:r>
            <a:r>
              <a:rPr lang="en-US" altLang="he-IL" sz="2800"/>
              <a:t>) to point to the address in memory where the stack resides.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0C41D0D-7BE8-A40B-2562-4E9E7DE9E309}"/>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1304FA7C-FF3A-478B-A790-1D6AADCBFB64}" type="slidenum">
              <a:rPr lang="he-IL" altLang="en-US" sz="1800">
                <a:latin typeface="Arial" panose="020B0604020202020204" pitchFamily="34" charset="0"/>
              </a:rPr>
              <a:pPr/>
              <a:t>26</a:t>
            </a:fld>
            <a:endParaRPr lang="en-US" altLang="en-US" sz="1800">
              <a:latin typeface="Arial" panose="020B0604020202020204" pitchFamily="34" charset="0"/>
            </a:endParaRPr>
          </a:p>
        </p:txBody>
      </p:sp>
      <p:sp>
        <p:nvSpPr>
          <p:cNvPr id="27651" name="Rectangle 2">
            <a:extLst>
              <a:ext uri="{FF2B5EF4-FFF2-40B4-BE49-F238E27FC236}">
                <a16:creationId xmlns:a16="http://schemas.microsoft.com/office/drawing/2014/main" id="{C69CE994-F59E-4A56-A52A-0F25C44E684F}"/>
              </a:ext>
            </a:extLst>
          </p:cNvPr>
          <p:cNvSpPr>
            <a:spLocks noGrp="1" noChangeArrowheads="1"/>
          </p:cNvSpPr>
          <p:nvPr>
            <p:ph type="title"/>
          </p:nvPr>
        </p:nvSpPr>
        <p:spPr/>
        <p:txBody>
          <a:bodyPr/>
          <a:lstStyle/>
          <a:p>
            <a:r>
              <a:rPr lang="en-US" altLang="he-IL"/>
              <a:t>Compiling a Leaf Procedure</a:t>
            </a:r>
          </a:p>
        </p:txBody>
      </p:sp>
      <p:sp>
        <p:nvSpPr>
          <p:cNvPr id="27652" name="Rectangle 3">
            <a:extLst>
              <a:ext uri="{FF2B5EF4-FFF2-40B4-BE49-F238E27FC236}">
                <a16:creationId xmlns:a16="http://schemas.microsoft.com/office/drawing/2014/main" id="{BC14389C-45E1-92D0-8DE1-42271CF271CE}"/>
              </a:ext>
            </a:extLst>
          </p:cNvPr>
          <p:cNvSpPr>
            <a:spLocks noGrp="1" noChangeArrowheads="1"/>
          </p:cNvSpPr>
          <p:nvPr>
            <p:ph type="body" idx="1"/>
          </p:nvPr>
        </p:nvSpPr>
        <p:spPr/>
        <p:txBody>
          <a:bodyPr/>
          <a:lstStyle/>
          <a:p>
            <a:pPr>
              <a:buFontTx/>
              <a:buNone/>
            </a:pPr>
            <a:r>
              <a:rPr lang="en-US" altLang="he-IL" sz="2800">
                <a:latin typeface="Courier New" panose="02070309020205020404" pitchFamily="49" charset="0"/>
              </a:rPr>
              <a:t>int leaf(int g,int h,int i,int j){</a:t>
            </a:r>
          </a:p>
          <a:p>
            <a:pPr>
              <a:buFontTx/>
              <a:buNone/>
            </a:pPr>
            <a:r>
              <a:rPr lang="en-US" altLang="he-IL" sz="2800">
                <a:latin typeface="Courier New" panose="02070309020205020404" pitchFamily="49" charset="0"/>
              </a:rPr>
              <a:t>	int f;// the arguments are in $a0-$a3, </a:t>
            </a:r>
          </a:p>
          <a:p>
            <a:pPr>
              <a:buFontTx/>
              <a:buNone/>
            </a:pPr>
            <a:r>
              <a:rPr lang="en-US" altLang="he-IL" sz="2800">
                <a:latin typeface="Courier New" panose="02070309020205020404" pitchFamily="49" charset="0"/>
              </a:rPr>
              <a:t>	f=(g+h) - (i+j); //f is in $s0</a:t>
            </a:r>
          </a:p>
          <a:p>
            <a:pPr>
              <a:buFontTx/>
              <a:buNone/>
            </a:pPr>
            <a:r>
              <a:rPr lang="en-US" altLang="he-IL" sz="2800">
                <a:latin typeface="Courier New" panose="02070309020205020404" pitchFamily="49" charset="0"/>
              </a:rPr>
              <a:t>	return f;</a:t>
            </a:r>
          </a:p>
          <a:p>
            <a:pPr>
              <a:buFontTx/>
              <a:buNone/>
            </a:pPr>
            <a:r>
              <a:rPr lang="en-US" altLang="he-IL" sz="2800">
                <a:latin typeface="Courier New" panose="02070309020205020404" pitchFamily="49" charset="0"/>
              </a:rPr>
              <a:t>}</a:t>
            </a:r>
          </a:p>
          <a:p>
            <a:pPr>
              <a:buFontTx/>
              <a:buNone/>
            </a:pPr>
            <a:r>
              <a:rPr lang="en-US" altLang="he-IL" sz="2800"/>
              <a:t>Before continuing we will introduce a new instruction:</a:t>
            </a:r>
          </a:p>
          <a:p>
            <a:pPr>
              <a:buFontTx/>
              <a:buNone/>
            </a:pPr>
            <a:r>
              <a:rPr lang="en-US" altLang="he-IL" sz="2800">
                <a:latin typeface="Courier New" panose="02070309020205020404" pitchFamily="49" charset="0"/>
              </a:rPr>
              <a:t>addi $t0,$t0,10# $t0=$t0+10</a:t>
            </a:r>
          </a:p>
          <a:p>
            <a:pPr>
              <a:buFontTx/>
              <a:buNone/>
            </a:pPr>
            <a:r>
              <a:rPr lang="en-US" altLang="he-IL" sz="2800" i="1"/>
              <a:t>add immediate (addi)</a:t>
            </a:r>
            <a:r>
              <a:rPr lang="en-US" altLang="he-IL" sz="2800"/>
              <a:t> has as one of its operands an immediate value. </a:t>
            </a:r>
            <a:r>
              <a:rPr lang="en-US" altLang="he-IL" sz="2800">
                <a:latin typeface="Courier New" panose="02070309020205020404" pitchFamily="49" charset="0"/>
              </a:rPr>
              <a:t>addi</a:t>
            </a:r>
            <a:r>
              <a:rPr lang="en-US" altLang="he-IL" sz="2800"/>
              <a:t> is of the I-type instructions and in fact gives the format its name.</a:t>
            </a:r>
            <a:endParaRPr lang="en-US" altLang="he-IL" sz="2800">
              <a:latin typeface="Courier New" panose="02070309020205020404" pitchFamily="49" charset="0"/>
            </a:endParaRPr>
          </a:p>
          <a:p>
            <a:pPr>
              <a:buFontTx/>
              <a:buNone/>
            </a:pPr>
            <a:endParaRPr lang="en-US" altLang="he-IL" sz="2800">
              <a:latin typeface="Courier New" panose="020703090202050204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7876B6-A1B6-C4BB-6758-027334FAD3A2}"/>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45B06852-2173-4486-A884-9077DC3CF35E}" type="slidenum">
              <a:rPr lang="he-IL" altLang="en-US" sz="1800">
                <a:latin typeface="Arial" panose="020B0604020202020204" pitchFamily="34" charset="0"/>
              </a:rPr>
              <a:pPr/>
              <a:t>27</a:t>
            </a:fld>
            <a:endParaRPr lang="en-US" altLang="en-US" sz="1800">
              <a:latin typeface="Arial" panose="020B0604020202020204" pitchFamily="34" charset="0"/>
            </a:endParaRPr>
          </a:p>
        </p:txBody>
      </p:sp>
      <p:sp>
        <p:nvSpPr>
          <p:cNvPr id="28675" name="Rectangle 2">
            <a:extLst>
              <a:ext uri="{FF2B5EF4-FFF2-40B4-BE49-F238E27FC236}">
                <a16:creationId xmlns:a16="http://schemas.microsoft.com/office/drawing/2014/main" id="{76FC83AB-4E0D-0136-56AB-CDECA04C92A7}"/>
              </a:ext>
            </a:extLst>
          </p:cNvPr>
          <p:cNvSpPr>
            <a:spLocks noGrp="1" noChangeArrowheads="1"/>
          </p:cNvSpPr>
          <p:nvPr>
            <p:ph type="title"/>
          </p:nvPr>
        </p:nvSpPr>
        <p:spPr/>
        <p:txBody>
          <a:bodyPr/>
          <a:lstStyle/>
          <a:p>
            <a:r>
              <a:rPr lang="en-US" altLang="he-IL"/>
              <a:t>The Assembly Version</a:t>
            </a:r>
          </a:p>
        </p:txBody>
      </p:sp>
      <p:sp>
        <p:nvSpPr>
          <p:cNvPr id="28676" name="Rectangle 3">
            <a:extLst>
              <a:ext uri="{FF2B5EF4-FFF2-40B4-BE49-F238E27FC236}">
                <a16:creationId xmlns:a16="http://schemas.microsoft.com/office/drawing/2014/main" id="{E360CBAA-4A87-3EC6-25BB-BB005112E672}"/>
              </a:ext>
            </a:extLst>
          </p:cNvPr>
          <p:cNvSpPr>
            <a:spLocks noGrp="1" noChangeArrowheads="1"/>
          </p:cNvSpPr>
          <p:nvPr>
            <p:ph type="body" idx="1"/>
          </p:nvPr>
        </p:nvSpPr>
        <p:spPr/>
        <p:txBody>
          <a:bodyPr/>
          <a:lstStyle/>
          <a:p>
            <a:pPr>
              <a:buFontTx/>
              <a:buNone/>
            </a:pPr>
            <a:r>
              <a:rPr lang="en-US" altLang="he-IL" sz="2400">
                <a:latin typeface="Courier New" panose="02070309020205020404" pitchFamily="49" charset="0"/>
              </a:rPr>
              <a:t>subi $sp,$sp,12#make room for 3 items on stack</a:t>
            </a:r>
          </a:p>
          <a:p>
            <a:pPr>
              <a:buFontTx/>
              <a:buNone/>
            </a:pPr>
            <a:r>
              <a:rPr lang="en-US" altLang="he-IL" sz="2400">
                <a:latin typeface="Courier New" panose="02070309020205020404" pitchFamily="49" charset="0"/>
              </a:rPr>
              <a:t>sw   $t1,8($sp)  #save $t1 </a:t>
            </a:r>
          </a:p>
          <a:p>
            <a:pPr>
              <a:buFontTx/>
              <a:buNone/>
            </a:pPr>
            <a:r>
              <a:rPr lang="en-US" altLang="he-IL" sz="2400">
                <a:latin typeface="Courier New" panose="02070309020205020404" pitchFamily="49" charset="0"/>
              </a:rPr>
              <a:t>sw   $t0,4($sp)  #save $t0 </a:t>
            </a:r>
            <a:endParaRPr lang="en-US" altLang="he-IL" sz="2800">
              <a:latin typeface="Courier New" panose="02070309020205020404" pitchFamily="49" charset="0"/>
            </a:endParaRPr>
          </a:p>
          <a:p>
            <a:pPr>
              <a:buFontTx/>
              <a:buNone/>
            </a:pPr>
            <a:r>
              <a:rPr lang="en-US" altLang="he-IL" sz="2400">
                <a:latin typeface="Courier New" panose="02070309020205020404" pitchFamily="49" charset="0"/>
              </a:rPr>
              <a:t>sw   $s0,0($sp)  #save $s0</a:t>
            </a:r>
          </a:p>
          <a:p>
            <a:pPr>
              <a:buFontTx/>
              <a:buNone/>
            </a:pPr>
            <a:r>
              <a:rPr lang="en-US" altLang="he-IL" sz="2400">
                <a:latin typeface="Courier New" panose="02070309020205020404" pitchFamily="49" charset="0"/>
              </a:rPr>
              <a:t>add  $t0,$a0,$a1 # $t0=g+h</a:t>
            </a:r>
          </a:p>
          <a:p>
            <a:pPr>
              <a:buFontTx/>
              <a:buNone/>
            </a:pPr>
            <a:r>
              <a:rPr lang="en-US" altLang="he-IL" sz="2400">
                <a:latin typeface="Courier New" panose="02070309020205020404" pitchFamily="49" charset="0"/>
              </a:rPr>
              <a:t>add  $t1,$a2,$a3 # $t1=i+j</a:t>
            </a:r>
          </a:p>
          <a:p>
            <a:pPr>
              <a:buFontTx/>
              <a:buNone/>
            </a:pPr>
            <a:r>
              <a:rPr lang="en-US" altLang="he-IL" sz="2400">
                <a:latin typeface="Courier New" panose="02070309020205020404" pitchFamily="49" charset="0"/>
              </a:rPr>
              <a:t>sub  $s0,$t0,$t1 # f=$t0+$t1</a:t>
            </a:r>
          </a:p>
          <a:p>
            <a:pPr>
              <a:buFontTx/>
              <a:buNone/>
            </a:pPr>
            <a:r>
              <a:rPr lang="en-US" altLang="he-IL" sz="2400">
                <a:latin typeface="Courier New" panose="02070309020205020404" pitchFamily="49" charset="0"/>
              </a:rPr>
              <a:t>add  $v0,$s0,$zero # $v0=$s0</a:t>
            </a:r>
          </a:p>
          <a:p>
            <a:pPr>
              <a:buFontTx/>
              <a:buNone/>
            </a:pPr>
            <a:r>
              <a:rPr lang="en-US" altLang="he-IL" sz="2400">
                <a:latin typeface="Courier New" panose="02070309020205020404" pitchFamily="49" charset="0"/>
              </a:rPr>
              <a:t>lw   $s0,0($sp)  #restore $s0 </a:t>
            </a:r>
          </a:p>
          <a:p>
            <a:pPr>
              <a:buFontTx/>
              <a:buNone/>
            </a:pPr>
            <a:r>
              <a:rPr lang="en-US" altLang="he-IL" sz="2400">
                <a:latin typeface="Courier New" panose="02070309020205020404" pitchFamily="49" charset="0"/>
              </a:rPr>
              <a:t>lw   $t0,4($sp)  #restore $t0 </a:t>
            </a:r>
          </a:p>
          <a:p>
            <a:pPr>
              <a:buFontTx/>
              <a:buNone/>
            </a:pPr>
            <a:r>
              <a:rPr lang="en-US" altLang="he-IL" sz="2400">
                <a:latin typeface="Courier New" panose="02070309020205020404" pitchFamily="49" charset="0"/>
              </a:rPr>
              <a:t>lw   $t1,8($sp)  #restore $t1</a:t>
            </a:r>
          </a:p>
          <a:p>
            <a:pPr>
              <a:buFontTx/>
              <a:buNone/>
            </a:pPr>
            <a:r>
              <a:rPr lang="en-US" altLang="he-IL" sz="2400">
                <a:latin typeface="Courier New" panose="02070309020205020404" pitchFamily="49" charset="0"/>
              </a:rPr>
              <a:t>addi $sp,$sp,12#remove the room on the stack</a:t>
            </a:r>
          </a:p>
          <a:p>
            <a:pPr>
              <a:buFontTx/>
              <a:buNone/>
            </a:pPr>
            <a:r>
              <a:rPr lang="en-US" altLang="he-IL" sz="2400">
                <a:latin typeface="Courier New" panose="02070309020205020404" pitchFamily="49" charset="0"/>
              </a:rPr>
              <a:t>jr   $ra       #jump back to point of origin   </a:t>
            </a:r>
            <a:endParaRPr lang="en-US" altLang="he-IL" sz="2800">
              <a:latin typeface="Courier New" panose="02070309020205020404" pitchFamily="49" charset="0"/>
            </a:endParaRPr>
          </a:p>
          <a:p>
            <a:pPr>
              <a:buFontTx/>
              <a:buNone/>
            </a:pPr>
            <a:endParaRPr lang="en-US" altLang="he-IL" sz="2400">
              <a:latin typeface="Courier New" panose="02070309020205020404" pitchFamily="49" charset="0"/>
            </a:endParaRPr>
          </a:p>
          <a:p>
            <a:pPr>
              <a:buFontTx/>
              <a:buNone/>
            </a:pPr>
            <a:endParaRPr lang="en-US" altLang="he-IL" sz="2800">
              <a:latin typeface="Courier New" panose="02070309020205020404" pitchFamily="49" charset="0"/>
            </a:endParaRPr>
          </a:p>
          <a:p>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1B2B2154-E4B0-F039-15BC-036C30128233}"/>
              </a:ext>
            </a:extLst>
          </p:cNvPr>
          <p:cNvSpPr>
            <a:spLocks noGrp="1"/>
          </p:cNvSpPr>
          <p:nvPr>
            <p:ph type="sldNum" sz="quarter" idx="10"/>
          </p:nvPr>
        </p:nvSpPr>
        <p:spPr/>
        <p:txBody>
          <a:bodyPr/>
          <a:lstStyle>
            <a:lvl1pPr>
              <a:defRPr sz="2800">
                <a:solidFill>
                  <a:schemeClr val="tx1"/>
                </a:solidFill>
                <a:latin typeface="Times New Roman (Hebrew)" pitchFamily="18" charset="0"/>
                <a:cs typeface="Times New Roman (Hebrew)" pitchFamily="18" charset="0"/>
              </a:defRPr>
            </a:lvl1pPr>
            <a:lvl2pPr marL="742950" indent="-285750">
              <a:defRPr sz="2800">
                <a:solidFill>
                  <a:schemeClr val="tx1"/>
                </a:solidFill>
                <a:latin typeface="Times New Roman (Hebrew)" pitchFamily="18" charset="0"/>
                <a:cs typeface="Times New Roman (Hebrew)" pitchFamily="18" charset="0"/>
              </a:defRPr>
            </a:lvl2pPr>
            <a:lvl3pPr marL="1143000" indent="-228600">
              <a:defRPr sz="2800">
                <a:solidFill>
                  <a:schemeClr val="tx1"/>
                </a:solidFill>
                <a:latin typeface="Times New Roman (Hebrew)" pitchFamily="18" charset="0"/>
                <a:cs typeface="Times New Roman (Hebrew)" pitchFamily="18" charset="0"/>
              </a:defRPr>
            </a:lvl3pPr>
            <a:lvl4pPr marL="1600200" indent="-228600">
              <a:defRPr sz="2800">
                <a:solidFill>
                  <a:schemeClr val="tx1"/>
                </a:solidFill>
                <a:latin typeface="Times New Roman (Hebrew)" pitchFamily="18" charset="0"/>
                <a:cs typeface="Times New Roman (Hebrew)" pitchFamily="18" charset="0"/>
              </a:defRPr>
            </a:lvl4pPr>
            <a:lvl5pPr marL="2057400" indent="-228600">
              <a:defRPr sz="2800">
                <a:solidFill>
                  <a:schemeClr val="tx1"/>
                </a:solidFill>
                <a:latin typeface="Times New Roman (Hebrew)" pitchFamily="18" charset="0"/>
                <a:cs typeface="Times New Roman (Hebrew)" pitchFamily="18" charset="0"/>
              </a:defRPr>
            </a:lvl5pPr>
            <a:lvl6pPr marL="25146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6pPr>
            <a:lvl7pPr marL="29718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7pPr>
            <a:lvl8pPr marL="34290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8pPr>
            <a:lvl9pPr marL="3886200" indent="-228600" eaLnBrk="0" fontAlgn="base" hangingPunct="0">
              <a:spcBef>
                <a:spcPct val="0"/>
              </a:spcBef>
              <a:spcAft>
                <a:spcPct val="0"/>
              </a:spcAft>
              <a:defRPr sz="2800">
                <a:solidFill>
                  <a:schemeClr val="tx1"/>
                </a:solidFill>
                <a:latin typeface="Times New Roman (Hebrew)" pitchFamily="18" charset="0"/>
                <a:cs typeface="Times New Roman (Hebrew)" pitchFamily="18" charset="0"/>
              </a:defRPr>
            </a:lvl9pPr>
          </a:lstStyle>
          <a:p>
            <a:fld id="{33C53A9E-8419-401A-BE0E-74331FB20DDE}" type="slidenum">
              <a:rPr lang="he-IL" altLang="en-US" sz="1800">
                <a:latin typeface="Arial" panose="020B0604020202020204" pitchFamily="34" charset="0"/>
              </a:rPr>
              <a:pPr/>
              <a:t>28</a:t>
            </a:fld>
            <a:endParaRPr lang="en-US" altLang="en-US" sz="1800">
              <a:latin typeface="Arial" panose="020B0604020202020204" pitchFamily="34" charset="0"/>
            </a:endParaRPr>
          </a:p>
        </p:txBody>
      </p:sp>
      <p:sp>
        <p:nvSpPr>
          <p:cNvPr id="29699" name="Rectangle 2">
            <a:extLst>
              <a:ext uri="{FF2B5EF4-FFF2-40B4-BE49-F238E27FC236}">
                <a16:creationId xmlns:a16="http://schemas.microsoft.com/office/drawing/2014/main" id="{BBD00043-CDD7-93D5-7C94-072A35FFACA1}"/>
              </a:ext>
            </a:extLst>
          </p:cNvPr>
          <p:cNvSpPr>
            <a:spLocks noGrp="1" noChangeArrowheads="1"/>
          </p:cNvSpPr>
          <p:nvPr>
            <p:ph type="title"/>
          </p:nvPr>
        </p:nvSpPr>
        <p:spPr/>
        <p:txBody>
          <a:bodyPr/>
          <a:lstStyle/>
          <a:p>
            <a:r>
              <a:rPr lang="en-US" altLang="he-IL"/>
              <a:t>Picture of Stack</a:t>
            </a:r>
          </a:p>
        </p:txBody>
      </p:sp>
      <p:sp>
        <p:nvSpPr>
          <p:cNvPr id="29700" name="Rectangle 3">
            <a:extLst>
              <a:ext uri="{FF2B5EF4-FFF2-40B4-BE49-F238E27FC236}">
                <a16:creationId xmlns:a16="http://schemas.microsoft.com/office/drawing/2014/main" id="{CC5AFB7C-BD36-E5D8-A6A5-2E9DD991E14C}"/>
              </a:ext>
            </a:extLst>
          </p:cNvPr>
          <p:cNvSpPr>
            <a:spLocks noGrp="1" noChangeArrowheads="1"/>
          </p:cNvSpPr>
          <p:nvPr>
            <p:ph type="body" idx="1"/>
          </p:nvPr>
        </p:nvSpPr>
        <p:spPr>
          <a:xfrm>
            <a:off x="228600" y="3810000"/>
            <a:ext cx="8686800" cy="2819400"/>
          </a:xfrm>
        </p:spPr>
        <p:txBody>
          <a:bodyPr/>
          <a:lstStyle/>
          <a:p>
            <a:r>
              <a:rPr lang="en-US" altLang="he-IL" sz="2800"/>
              <a:t>In order to avoid saving registers that might not be used in the future, MIPS software offers 2 classes of registers:</a:t>
            </a:r>
            <a:br>
              <a:rPr lang="en-US" altLang="he-IL" sz="2800"/>
            </a:br>
            <a:r>
              <a:rPr lang="en-US" altLang="he-IL" sz="2800">
                <a:latin typeface="Courier New" panose="02070309020205020404" pitchFamily="49" charset="0"/>
              </a:rPr>
              <a:t>$t0-$t9</a:t>
            </a:r>
            <a:r>
              <a:rPr lang="en-US" altLang="he-IL" sz="2800"/>
              <a:t>: 10 temporary registers, not saved by the </a:t>
            </a:r>
            <a:br>
              <a:rPr lang="en-US" altLang="he-IL" sz="2800"/>
            </a:br>
            <a:r>
              <a:rPr lang="en-US" altLang="he-IL" sz="2800"/>
              <a:t>                  procedure. </a:t>
            </a:r>
            <a:br>
              <a:rPr lang="en-US" altLang="he-IL" sz="2800"/>
            </a:br>
            <a:r>
              <a:rPr lang="en-US" altLang="he-IL" sz="2800">
                <a:latin typeface="Courier New" panose="02070309020205020404" pitchFamily="49" charset="0"/>
              </a:rPr>
              <a:t>$s0-$s7</a:t>
            </a:r>
            <a:r>
              <a:rPr lang="en-US" altLang="he-IL" sz="2800"/>
              <a:t>: 8 saved registers, saved by the </a:t>
            </a:r>
            <a:br>
              <a:rPr lang="en-US" altLang="he-IL" sz="2800"/>
            </a:br>
            <a:r>
              <a:rPr lang="en-US" altLang="he-IL" sz="2800"/>
              <a:t>                 procedure.</a:t>
            </a:r>
          </a:p>
        </p:txBody>
      </p:sp>
      <p:pic>
        <p:nvPicPr>
          <p:cNvPr id="29701" name="Picture 4" descr="I:\wmf\F0310.wmf">
            <a:extLst>
              <a:ext uri="{FF2B5EF4-FFF2-40B4-BE49-F238E27FC236}">
                <a16:creationId xmlns:a16="http://schemas.microsoft.com/office/drawing/2014/main" id="{CF4A0061-5E0B-FC18-0DEE-86157C3CF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066800"/>
            <a:ext cx="8413750"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ca-jct">
  <a:themeElements>
    <a:clrScheme name="ca-jct.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a-jct.pot">
      <a:majorFont>
        <a:latin typeface="Arial"/>
        <a:ea typeface=""/>
        <a:cs typeface="Times New Roman (Hebrew)"/>
      </a:majorFont>
      <a:minorFont>
        <a:latin typeface="Arial"/>
        <a:ea typeface=""/>
        <a:cs typeface="Times New Roman (Hebrew)"/>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imes New Roman (Hebrew)" pitchFamily="18" charset="-79"/>
            <a:cs typeface="Times New Roman (Hebrew)" pitchFamily="18" charset="-79"/>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imes New Roman (Hebrew)" pitchFamily="18" charset="-79"/>
            <a:cs typeface="Times New Roman (Hebrew)" pitchFamily="18" charset="-79"/>
          </a:defRPr>
        </a:defPPr>
      </a:lstStyle>
    </a:lnDef>
  </a:objectDefaults>
  <a:extraClrSchemeLst>
    <a:extraClrScheme>
      <a:clrScheme name="ca-jct.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a-jct.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a-jct.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a-jct.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a-jct.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a-jct.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a-jct.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591</TotalTime>
  <Words>2781</Words>
  <Application>Microsoft Office PowerPoint</Application>
  <PresentationFormat>On-screen Show (4:3)</PresentationFormat>
  <Paragraphs>217</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Times New Roman (Hebrew)</vt:lpstr>
      <vt:lpstr>Arial</vt:lpstr>
      <vt:lpstr>Times New Roman</vt:lpstr>
      <vt:lpstr>Arial (Hebrew)</vt:lpstr>
      <vt:lpstr>Courier New</vt:lpstr>
      <vt:lpstr>ca-jct</vt:lpstr>
      <vt:lpstr>The Instruction Set</vt:lpstr>
      <vt:lpstr>Addition &amp; Subtraction</vt:lpstr>
      <vt:lpstr>From C to Assembly</vt:lpstr>
      <vt:lpstr>Operands of the Computer</vt:lpstr>
      <vt:lpstr>Registers</vt:lpstr>
      <vt:lpstr>Memory</vt:lpstr>
      <vt:lpstr>The Load Instruction</vt:lpstr>
      <vt:lpstr>The Store Instruction</vt:lpstr>
      <vt:lpstr>Using an Array Index</vt:lpstr>
      <vt:lpstr>Representing Instructions</vt:lpstr>
      <vt:lpstr>Binary Representation</vt:lpstr>
      <vt:lpstr>Instruction Formats</vt:lpstr>
      <vt:lpstr>R-format Instructions </vt:lpstr>
      <vt:lpstr>I-format Instructions </vt:lpstr>
      <vt:lpstr>Branch Instructions</vt:lpstr>
      <vt:lpstr>Compiling an if Statement</vt:lpstr>
      <vt:lpstr>J-format Instructions </vt:lpstr>
      <vt:lpstr>Compiling if-then-else</vt:lpstr>
      <vt:lpstr>Loops</vt:lpstr>
      <vt:lpstr>Compiling a while Loop</vt:lpstr>
      <vt:lpstr>Set on less than</vt:lpstr>
      <vt:lpstr>Why Not a blt</vt:lpstr>
      <vt:lpstr>Procedures</vt:lpstr>
      <vt:lpstr>Registers for Procedures</vt:lpstr>
      <vt:lpstr>Using More Registers</vt:lpstr>
      <vt:lpstr>Compiling a Leaf Procedure</vt:lpstr>
      <vt:lpstr>The Assembly Version</vt:lpstr>
      <vt:lpstr>Picture of Stack</vt:lpstr>
    </vt:vector>
  </TitlesOfParts>
  <Company>Yanex Computing Spaces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Instruction Set</dc:title>
  <dc:creator>Daniel Citron</dc:creator>
  <cp:lastModifiedBy>Mohammed Safiullah</cp:lastModifiedBy>
  <cp:revision>57</cp:revision>
  <dcterms:created xsi:type="dcterms:W3CDTF">1999-10-25T11:57:03Z</dcterms:created>
  <dcterms:modified xsi:type="dcterms:W3CDTF">2026-09-13T04:54:42Z</dcterms:modified>
</cp:coreProperties>
</file>
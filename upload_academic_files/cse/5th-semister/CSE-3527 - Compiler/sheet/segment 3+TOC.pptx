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5" r:id="rId8"/>
    <p:sldId id="264" r:id="rId9"/>
    <p:sldId id="266" r:id="rId10"/>
    <p:sldId id="263" r:id="rId11"/>
    <p:sldId id="267" r:id="rId12"/>
    <p:sldId id="268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69" r:id="rId21"/>
    <p:sldId id="270" r:id="rId22"/>
    <p:sldId id="27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-528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7FDA-35B9-4549-8C76-890ECCB98792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BBFE-0281-474C-AE50-03704164A2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25121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7FDA-35B9-4549-8C76-890ECCB98792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BBFE-0281-474C-AE50-03704164A2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80698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7FDA-35B9-4549-8C76-890ECCB98792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BBFE-0281-474C-AE50-03704164A2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6439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7FDA-35B9-4549-8C76-890ECCB98792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BBFE-0281-474C-AE50-03704164A2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16738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7FDA-35B9-4549-8C76-890ECCB98792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BBFE-0281-474C-AE50-03704164A2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96368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7FDA-35B9-4549-8C76-890ECCB98792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BBFE-0281-474C-AE50-03704164A2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09655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7FDA-35B9-4549-8C76-890ECCB98792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BBFE-0281-474C-AE50-03704164A2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8721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7FDA-35B9-4549-8C76-890ECCB98792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BBFE-0281-474C-AE50-03704164A2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89207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7FDA-35B9-4549-8C76-890ECCB98792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BBFE-0281-474C-AE50-03704164A2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58903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7FDA-35B9-4549-8C76-890ECCB98792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BBFE-0281-474C-AE50-03704164A2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32514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7FDA-35B9-4549-8C76-890ECCB98792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BBFE-0281-474C-AE50-03704164A20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499462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7FDA-35B9-4549-8C76-890ECCB98792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BBFE-0281-474C-AE50-03704164A2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20778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7FDA-35B9-4549-8C76-890ECCB98792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BBFE-0281-474C-AE50-03704164A20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3066059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7FDA-35B9-4549-8C76-890ECCB98792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BBFE-0281-474C-AE50-03704164A2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239990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7FDA-35B9-4549-8C76-890ECCB98792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BBFE-0281-474C-AE50-03704164A2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76011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7FDA-35B9-4549-8C76-890ECCB98792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BBFE-0281-474C-AE50-03704164A2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41408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37FDA-35B9-4549-8C76-890ECCB98792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2D6BBFE-0281-474C-AE50-03704164A2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98598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F29EEF-066F-4DB6-81FC-5D0EA295B1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Compiler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BFEA3A2-61D2-4664-A52E-CCD6D0AADB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Segment 2</a:t>
            </a:r>
          </a:p>
          <a:p>
            <a:r>
              <a:rPr lang="en-US" dirty="0"/>
              <a:t>Segment 3</a:t>
            </a:r>
          </a:p>
        </p:txBody>
      </p:sp>
    </p:spTree>
    <p:extLst>
      <p:ext uri="{BB962C8B-B14F-4D97-AF65-F5344CB8AC3E}">
        <p14:creationId xmlns:p14="http://schemas.microsoft.com/office/powerpoint/2010/main" xmlns="" val="3643507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167B81-4221-4E2D-AC29-10D3FB99F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Sensitive Grammar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E58488-E6EF-48F5-8B8C-B67C7B846E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A Context-sensitive grammar is an Unrestricted grammar in which all the productions are of form –</a:t>
            </a:r>
          </a:p>
          <a:p>
            <a:endParaRPr lang="en-US" b="0" i="0" dirty="0">
              <a:solidFill>
                <a:srgbClr val="273239"/>
              </a:solidFill>
              <a:effectLst/>
              <a:latin typeface="urw-din"/>
            </a:endParaRPr>
          </a:p>
          <a:p>
            <a:endParaRPr lang="en-US" dirty="0">
              <a:solidFill>
                <a:srgbClr val="273239"/>
              </a:solidFill>
              <a:latin typeface="urw-din"/>
            </a:endParaRPr>
          </a:p>
          <a:p>
            <a:endParaRPr lang="en-US" dirty="0">
              <a:solidFill>
                <a:srgbClr val="273239"/>
              </a:solidFill>
              <a:latin typeface="urw-din"/>
            </a:endParaRPr>
          </a:p>
          <a:p>
            <a:endParaRPr lang="en-US" dirty="0">
              <a:solidFill>
                <a:srgbClr val="273239"/>
              </a:solidFill>
              <a:latin typeface="urw-din"/>
            </a:endParaRP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Where α and β are strings of non-terminals and terminals.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8017CA9-131D-49B9-866B-2F6E35231B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041B6CF9-0E25-4980-894F-A0132A0AD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0075" y="3429000"/>
            <a:ext cx="4489895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xmlns="" id="{C6861492-FF5A-4308-A6E5-AE7E7C822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24064" y="2576512"/>
            <a:ext cx="3057525" cy="280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754924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6BB77B-EBF7-4722-ACBE-241CAAE11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CSG:Definition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0A2E471-95A7-493F-B7BB-0A4A4C35D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Context-sensitive grammar has 4-tuples. </a:t>
            </a:r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G = {N, Σ, P, S}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, Where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N = Set of non-terminal symbols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Σ = Set of terminal symbols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S = Start symbol of the production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P = Finite set of productions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All </a:t>
            </a:r>
          </a:p>
          <a:p>
            <a:pPr algn="l" fontAlgn="base"/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Context-sensitive Language: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 The language that can be defined by context-sensitive grammar is called CSL. Properties of CSL are 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Union, intersection and concatenation of two context-sensitive languages is context-sensitive.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Complement of a context-sensitive language is context-sensitive.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rules in P are of the form α</a:t>
            </a:r>
            <a:r>
              <a:rPr lang="en-US" b="0" i="0" baseline="-25000" dirty="0">
                <a:solidFill>
                  <a:srgbClr val="273239"/>
                </a:solidFill>
                <a:effectLst/>
                <a:latin typeface="urw-din"/>
              </a:rPr>
              <a:t>1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 A α</a:t>
            </a:r>
            <a:r>
              <a:rPr lang="en-US" b="0" i="0" baseline="-25000" dirty="0">
                <a:solidFill>
                  <a:srgbClr val="273239"/>
                </a:solidFill>
                <a:effectLst/>
                <a:latin typeface="urw-din"/>
              </a:rPr>
              <a:t>2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 –&gt; α</a:t>
            </a:r>
            <a:r>
              <a:rPr lang="en-US" b="0" i="0" baseline="-25000" dirty="0">
                <a:solidFill>
                  <a:srgbClr val="273239"/>
                </a:solidFill>
                <a:effectLst/>
                <a:latin typeface="urw-din"/>
              </a:rPr>
              <a:t>1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 β α</a:t>
            </a:r>
            <a:r>
              <a:rPr lang="en-US" b="0" i="0" baseline="-25000" dirty="0">
                <a:solidFill>
                  <a:srgbClr val="273239"/>
                </a:solidFill>
                <a:effectLst/>
                <a:latin typeface="urw-din"/>
              </a:rPr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10992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1EBCB8-B243-4906-B290-B54781F79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CSG:Example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6045F43-0435-4494-9FEE-FE278545B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 algn="l" fontAlgn="base">
              <a:buNone/>
            </a:pPr>
            <a:endParaRPr lang="en-US" b="0" i="0" dirty="0">
              <a:solidFill>
                <a:srgbClr val="273239"/>
              </a:solidFill>
              <a:effectLst/>
              <a:latin typeface="urw-din"/>
            </a:endParaRPr>
          </a:p>
          <a:p>
            <a:pPr algn="l" fontAlgn="base"/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CSG.</a:t>
            </a:r>
            <a:b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 → </a:t>
            </a:r>
            <a:r>
              <a:rPr lang="en-US" sz="3300" b="0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300" b="0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aAbc</a:t>
            </a: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 → </a:t>
            </a:r>
            <a:r>
              <a:rPr lang="en-US" sz="3300" b="0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 → </a:t>
            </a:r>
            <a:r>
              <a:rPr lang="en-US" sz="3300" b="0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Bbcc</a:t>
            </a: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b="0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Bb</a:t>
            </a:r>
            <a:b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b="0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aa/</a:t>
            </a:r>
            <a:r>
              <a:rPr lang="en-US" sz="3300" b="0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b="1" i="1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the language generated by this grammar?</a:t>
            </a:r>
            <a:endParaRPr lang="en-US" sz="3300" b="0" i="0" dirty="0">
              <a:solidFill>
                <a:srgbClr val="27323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en-US" sz="33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 → </a:t>
            </a:r>
            <a:r>
              <a:rPr lang="en-US" sz="3300" b="0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aAbc</a:t>
            </a: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3300" b="0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abAc</a:t>
            </a: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3300" b="0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abBbcc</a:t>
            </a: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3300" b="0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aBbbcc</a:t>
            </a: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3300" b="0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aaAbbcc</a:t>
            </a: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3300" b="0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aabAbcc</a:t>
            </a: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3300" b="0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aabbAcc</a:t>
            </a: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3300" b="0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aabbBbccc</a:t>
            </a: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3300" b="0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aabBbbccc</a:t>
            </a: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3300" b="0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aaBbbbccc</a:t>
            </a: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3300" b="0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aaabbbccc</a:t>
            </a: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language generated by this grammar is {</a:t>
            </a:r>
            <a:r>
              <a:rPr lang="en-US" sz="3300" b="1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300" b="1" i="0" baseline="3000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300" b="1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300" b="1" i="0" baseline="3000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300" b="1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300" b="1" i="0" baseline="3000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3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| n≥1}.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67402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A7A017-85D0-435E-AA69-2E96930B0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Grammar/Linear Grammar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16C0ADA-CF58-409B-95BB-DF8DBAC5E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 fontAlgn="base"/>
            <a:r>
              <a:rPr lang="en-US" sz="17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 </a:t>
            </a:r>
            <a:r>
              <a:rPr lang="en-US" sz="1700" dirty="0">
                <a:latin typeface="Arial" panose="020B0604020202020204" pitchFamily="34" charset="0"/>
              </a:rPr>
              <a:t>Computer Science</a:t>
            </a:r>
            <a:r>
              <a:rPr lang="en-US" sz="17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a </a:t>
            </a:r>
            <a:r>
              <a:rPr lang="en-US" sz="17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linear grammar</a:t>
            </a:r>
            <a:r>
              <a:rPr lang="en-US" sz="17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is a context free grammar that has at most one nonterminal in the </a:t>
            </a:r>
            <a:r>
              <a:rPr lang="en-US" sz="1700" dirty="0">
                <a:latin typeface="Arial" panose="020B0604020202020204" pitchFamily="34" charset="0"/>
              </a:rPr>
              <a:t>right-hand side</a:t>
            </a:r>
            <a:r>
              <a:rPr lang="en-US" sz="17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of each of its productions.</a:t>
            </a:r>
            <a:endParaRPr lang="en-US" sz="1700" dirty="0">
              <a:latin typeface="urw-din"/>
            </a:endParaRPr>
          </a:p>
          <a:p>
            <a:pPr algn="l" fontAlgn="base"/>
            <a:r>
              <a:rPr lang="en-US" sz="1700" dirty="0">
                <a:latin typeface="urw-din"/>
              </a:rPr>
              <a:t>Regular grammar</a:t>
            </a:r>
            <a:r>
              <a:rPr lang="en-US" sz="1700" b="0" i="0" dirty="0">
                <a:effectLst/>
                <a:latin typeface="urw-din"/>
              </a:rPr>
              <a:t> </a:t>
            </a:r>
            <a:r>
              <a:rPr lang="en-US" sz="1700" b="0" i="0" dirty="0">
                <a:solidFill>
                  <a:srgbClr val="273239"/>
                </a:solidFill>
                <a:effectLst/>
                <a:latin typeface="urw-din"/>
              </a:rPr>
              <a:t>is a type of grammar that describes a regular language. A regular grammar is a mathematical object, G, which consists of four components, G = (V, T</a:t>
            </a:r>
            <a:r>
              <a:rPr lang="en-US" sz="1700" b="0" i="1" dirty="0">
                <a:solidFill>
                  <a:srgbClr val="273239"/>
                </a:solidFill>
                <a:effectLst/>
                <a:latin typeface="urw-din"/>
              </a:rPr>
              <a:t>,</a:t>
            </a:r>
            <a:r>
              <a:rPr lang="en-US" sz="1700" b="0" i="0" dirty="0">
                <a:solidFill>
                  <a:srgbClr val="273239"/>
                </a:solidFill>
                <a:effectLst/>
                <a:latin typeface="urw-din"/>
              </a:rPr>
              <a:t> P, S), where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273239"/>
                </a:solidFill>
                <a:latin typeface="urw-din"/>
              </a:rPr>
              <a:t>V</a:t>
            </a:r>
            <a:r>
              <a:rPr lang="en-US" sz="1700" b="1" i="0" dirty="0">
                <a:solidFill>
                  <a:srgbClr val="273239"/>
                </a:solidFill>
                <a:effectLst/>
                <a:latin typeface="urw-din"/>
              </a:rPr>
              <a:t>: </a:t>
            </a:r>
            <a:r>
              <a:rPr lang="en-US" sz="1700" b="0" i="0" dirty="0">
                <a:solidFill>
                  <a:srgbClr val="273239"/>
                </a:solidFill>
                <a:effectLst/>
                <a:latin typeface="urw-din"/>
              </a:rPr>
              <a:t>non-empty, finite set of non-terminal symbols,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273239"/>
                </a:solidFill>
                <a:latin typeface="urw-din"/>
              </a:rPr>
              <a:t>T</a:t>
            </a:r>
            <a:r>
              <a:rPr lang="en-US" sz="1700" b="1" i="0" dirty="0">
                <a:solidFill>
                  <a:srgbClr val="273239"/>
                </a:solidFill>
                <a:effectLst/>
                <a:latin typeface="urw-din"/>
              </a:rPr>
              <a:t>:</a:t>
            </a:r>
            <a:r>
              <a:rPr lang="en-US" sz="1700" b="0" i="0" dirty="0">
                <a:solidFill>
                  <a:srgbClr val="273239"/>
                </a:solidFill>
                <a:effectLst/>
                <a:latin typeface="urw-din"/>
              </a:rPr>
              <a:t> a finite set of terminal symbols, or alphabet, symbols,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1700" b="1" i="0" dirty="0">
                <a:solidFill>
                  <a:srgbClr val="273239"/>
                </a:solidFill>
                <a:effectLst/>
                <a:latin typeface="urw-din"/>
              </a:rPr>
              <a:t>P:</a:t>
            </a:r>
            <a:r>
              <a:rPr lang="en-US" sz="1700" b="0" i="0" dirty="0">
                <a:solidFill>
                  <a:srgbClr val="273239"/>
                </a:solidFill>
                <a:effectLst/>
                <a:latin typeface="urw-din"/>
              </a:rPr>
              <a:t> a set of grammar rules, each of one having one of the forms</a:t>
            </a:r>
          </a:p>
          <a:p>
            <a:pPr marL="742950" lvl="1" indent="-285750" algn="l" fontAlgn="base">
              <a:buFont typeface="Arial" panose="020B0604020202020204" pitchFamily="34" charset="0"/>
              <a:buChar char="•"/>
            </a:pPr>
            <a:r>
              <a:rPr lang="en-US" sz="1700" b="0" i="0" dirty="0">
                <a:solidFill>
                  <a:srgbClr val="273239"/>
                </a:solidFill>
                <a:effectLst/>
                <a:latin typeface="urw-din"/>
              </a:rPr>
              <a:t>A ⇢ </a:t>
            </a:r>
            <a:r>
              <a:rPr lang="en-US" sz="1700" b="0" i="0" dirty="0" err="1">
                <a:solidFill>
                  <a:srgbClr val="273239"/>
                </a:solidFill>
                <a:effectLst/>
                <a:latin typeface="urw-din"/>
              </a:rPr>
              <a:t>aB</a:t>
            </a:r>
            <a:endParaRPr lang="en-US" sz="1700" b="0" i="0" dirty="0">
              <a:solidFill>
                <a:srgbClr val="273239"/>
              </a:solidFill>
              <a:effectLst/>
              <a:latin typeface="urw-din"/>
            </a:endParaRPr>
          </a:p>
          <a:p>
            <a:pPr marL="742950" lvl="1" indent="-285750" algn="l" fontAlgn="base">
              <a:buFont typeface="Arial" panose="020B0604020202020204" pitchFamily="34" charset="0"/>
              <a:buChar char="•"/>
            </a:pPr>
            <a:r>
              <a:rPr lang="en-US" sz="1700" b="0" i="0" dirty="0">
                <a:solidFill>
                  <a:srgbClr val="273239"/>
                </a:solidFill>
                <a:effectLst/>
                <a:latin typeface="urw-din"/>
              </a:rPr>
              <a:t>A⇢ a</a:t>
            </a:r>
          </a:p>
          <a:p>
            <a:pPr marL="742950" lvl="1" indent="-285750" algn="l" fontAlgn="base">
              <a:buFont typeface="Arial" panose="020B0604020202020204" pitchFamily="34" charset="0"/>
              <a:buChar char="•"/>
            </a:pPr>
            <a:r>
              <a:rPr lang="en-US" sz="1700" b="0" i="0" dirty="0">
                <a:solidFill>
                  <a:srgbClr val="273239"/>
                </a:solidFill>
                <a:effectLst/>
                <a:latin typeface="urw-din"/>
              </a:rPr>
              <a:t>A ⇢∈, Here ∈=empty string, A, B ∈ N, a ∈ ∑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1700" b="1" i="0" dirty="0">
                <a:solidFill>
                  <a:srgbClr val="273239"/>
                </a:solidFill>
                <a:effectLst/>
                <a:latin typeface="urw-din"/>
              </a:rPr>
              <a:t>S</a:t>
            </a:r>
            <a:r>
              <a:rPr lang="en-US" sz="1700" b="0" i="0" dirty="0">
                <a:solidFill>
                  <a:srgbClr val="273239"/>
                </a:solidFill>
                <a:effectLst/>
                <a:latin typeface="urw-din"/>
              </a:rPr>
              <a:t> ∈ N is the start symbol.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90050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FBB25C-1679-4EEA-B07D-08DCD566A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RG/LG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4D9DD35-20C4-4B50-81EC-3818A8E505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solidFill>
                  <a:srgbClr val="273239"/>
                </a:solidFill>
                <a:effectLst/>
                <a:latin typeface="urw-din"/>
              </a:rPr>
              <a:t>Right Linear Regular Grammar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solidFill>
                  <a:srgbClr val="273239"/>
                </a:solidFill>
                <a:effectLst/>
                <a:latin typeface="urw-din"/>
              </a:rPr>
              <a:t>Left Linear Regular Grammar</a:t>
            </a:r>
          </a:p>
          <a:p>
            <a:pPr algn="l" fontAlgn="base"/>
            <a:r>
              <a:rPr lang="en-US" sz="2400" b="1" i="0" dirty="0">
                <a:solidFill>
                  <a:srgbClr val="273239"/>
                </a:solidFill>
                <a:effectLst/>
                <a:latin typeface="urw-din"/>
              </a:rPr>
              <a:t>Right Linear Regular Grammar</a:t>
            </a:r>
          </a:p>
          <a:p>
            <a:pPr algn="l" fontAlgn="base"/>
            <a:r>
              <a:rPr lang="en-US" sz="2400" b="0" i="0" dirty="0">
                <a:solidFill>
                  <a:srgbClr val="273239"/>
                </a:solidFill>
                <a:effectLst/>
                <a:latin typeface="urw-din"/>
              </a:rPr>
              <a:t>In this type of regular grammar, all the non-terminals on the right-hand side exist at the rightmost place,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urw-din"/>
              </a:rPr>
              <a:t>i.e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urw-din"/>
              </a:rPr>
              <a:t>; right ends.</a:t>
            </a:r>
          </a:p>
          <a:p>
            <a:pPr marL="0" indent="0">
              <a:buNone/>
            </a:pPr>
            <a:endParaRPr lang="en-US" sz="2400" b="1" i="0" dirty="0">
              <a:solidFill>
                <a:srgbClr val="273239"/>
              </a:solidFill>
              <a:effectLst/>
              <a:latin typeface="urw-din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AB639AAD-DF36-4C7B-BFAB-1C416D40995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172202" y="1708334"/>
            <a:ext cx="524759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273239"/>
                </a:solidFill>
                <a:latin typeface="Consolas" panose="020B0609020204030204" pitchFamily="49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⇢ a,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⇢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⇢ ∈ where, A and B are non-terminals,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is terminal, and ∈ is empty string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rgbClr val="273239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S ⇢ 00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| 11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B ⇢ 0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B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| 1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B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| 0 | 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where,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S and B are non-terminals,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and 0 and 1 are terminals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xmlns="" id="{7A74A1E2-463D-4200-B619-78F787E4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1" y="5678652"/>
            <a:ext cx="5181599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05936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9F28D6-E565-4670-90CB-0EEE6B96D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LG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8DB3026-081D-4941-9FD2-9E41AE7AB5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l" fontAlgn="base"/>
            <a:r>
              <a:rPr lang="en-US" sz="2000" b="1" i="0" dirty="0">
                <a:solidFill>
                  <a:srgbClr val="273239"/>
                </a:solidFill>
                <a:effectLst/>
                <a:latin typeface="urw-din"/>
              </a:rPr>
              <a:t>Left Linear Regular Grammar</a:t>
            </a:r>
          </a:p>
          <a:p>
            <a:pPr algn="l" fontAlgn="base"/>
            <a:r>
              <a:rPr lang="en-US" sz="1600" b="0" i="0" dirty="0">
                <a:solidFill>
                  <a:srgbClr val="273239"/>
                </a:solidFill>
                <a:effectLst/>
                <a:latin typeface="urw-din"/>
              </a:rPr>
              <a:t>In this type of regular grammar, all the non-terminals on the right-hand side exist at the leftmost place, </a:t>
            </a:r>
            <a:r>
              <a:rPr lang="en-US" sz="1600" b="0" i="0" dirty="0" err="1">
                <a:solidFill>
                  <a:srgbClr val="273239"/>
                </a:solidFill>
                <a:effectLst/>
                <a:latin typeface="urw-din"/>
              </a:rPr>
              <a:t>i.e</a:t>
            </a:r>
            <a:r>
              <a:rPr lang="en-US" sz="1600" b="0" i="0" dirty="0">
                <a:solidFill>
                  <a:srgbClr val="273239"/>
                </a:solidFill>
                <a:effectLst/>
                <a:latin typeface="urw-din"/>
              </a:rPr>
              <a:t>; left ends.</a:t>
            </a:r>
          </a:p>
          <a:p>
            <a:pPr marL="0" indent="0" algn="l" fontAlgn="base">
              <a:buNone/>
            </a:pPr>
            <a:endParaRPr lang="en-US" sz="1600" b="0" i="0" dirty="0">
              <a:solidFill>
                <a:srgbClr val="273239"/>
              </a:solidFill>
              <a:effectLst/>
              <a:latin typeface="urw-di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urw-din"/>
              </a:rPr>
              <a:t>Examples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A ⇢ a,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A ⇢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a,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A ⇢ ∈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where, A and B are non-terminals, a is terminal, and ∈ is empty string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03DF64AD-9604-43EF-96E4-4EDD94F95C6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019800" y="3385741"/>
            <a:ext cx="5512837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 ⇢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00 |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 ⇢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 |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| 0 | 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 S and B are non-terminals,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 and 1 are terminals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5C00C20D-4D04-4D64-AFE8-334A4E3A2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75723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7917C7CE-1A67-4DC5-8175-00FF0ABFD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Left linear to Right Linear Regular Grammar</a:t>
            </a:r>
            <a:br>
              <a:rPr lang="en-US" b="1" i="0" dirty="0">
                <a:solidFill>
                  <a:srgbClr val="273239"/>
                </a:solidFill>
                <a:effectLst/>
                <a:latin typeface="urw-din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3B9456-884B-4CA7-8AD5-794C4211B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In this type of conversion, we have to shift all the left-handed non-terminals to right as shown in example given below: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2DB3477C-7A5B-461E-9E5F-23958917A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5" y="3467100"/>
            <a:ext cx="5448300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72672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1816BC-02B9-47DF-B3FA-B2B2188B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Right linear to Left Linear Regular Grammar</a:t>
            </a:r>
            <a:br>
              <a:rPr lang="en-US" b="1" i="0" dirty="0">
                <a:solidFill>
                  <a:srgbClr val="273239"/>
                </a:solidFill>
                <a:effectLst/>
                <a:latin typeface="urw-din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72887F2-7299-47FA-B103-6B3706DD3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In this type of conversion, we have to shift all the right-handed non-terminals to left as shown in example given below: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3345057-5D7F-41D4-BFE5-32DE1AF11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705" y="3526762"/>
            <a:ext cx="5495925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87527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92B278-0F80-41A7-A792-C80B656AC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Useless Nonterminal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EDDEDC-F0C8-425D-9FF7-B4283B476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38301"/>
            <a:ext cx="8596668" cy="44030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Context-free grammars can contain errors, just as programs do. Some errors are easy to detect and fix; others are more subtle.</a:t>
            </a:r>
          </a:p>
          <a:p>
            <a:r>
              <a:rPr lang="en-US" dirty="0"/>
              <a:t> In context-free grammars we start with the start symbol, and apply productions until a terminal string is produced. Some context-free grammars may contain useless non-terminals. </a:t>
            </a:r>
          </a:p>
          <a:p>
            <a:r>
              <a:rPr lang="en-US" dirty="0"/>
              <a:t>Non-terminals that are unreachable (from the start symbol) or that derive no terminal string are considered useless</a:t>
            </a:r>
          </a:p>
          <a:p>
            <a:r>
              <a:rPr lang="en-US" dirty="0"/>
              <a:t>A grammar containing useless </a:t>
            </a:r>
            <a:r>
              <a:rPr lang="en-US" dirty="0" err="1"/>
              <a:t>nonterminals</a:t>
            </a:r>
            <a:r>
              <a:rPr lang="en-US" dirty="0"/>
              <a:t> is said to be non-reduced. After useless non-terminals are removed, the grammar is reduced.</a:t>
            </a:r>
          </a:p>
          <a:p>
            <a:r>
              <a:rPr lang="en-US" dirty="0"/>
              <a:t> Consider S → AB | x</a:t>
            </a:r>
          </a:p>
          <a:p>
            <a:pPr marL="0" indent="0">
              <a:buNone/>
            </a:pPr>
            <a:r>
              <a:rPr lang="en-US" dirty="0"/>
              <a:t>                    B → b </a:t>
            </a:r>
          </a:p>
          <a:p>
            <a:pPr marL="0" indent="0">
              <a:buNone/>
            </a:pPr>
            <a:r>
              <a:rPr lang="en-US" dirty="0"/>
              <a:t>                    A → </a:t>
            </a:r>
            <a:r>
              <a:rPr lang="en-US" dirty="0" err="1"/>
              <a:t>aA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                C → d</a:t>
            </a:r>
          </a:p>
        </p:txBody>
      </p:sp>
    </p:spTree>
    <p:extLst>
      <p:ext uri="{BB962C8B-B14F-4D97-AF65-F5344CB8AC3E}">
        <p14:creationId xmlns:p14="http://schemas.microsoft.com/office/powerpoint/2010/main" xmlns="" val="2768683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42B6D8-509E-440D-8A72-9E41B2EB5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DFA TO REGULAR EXPRESSION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0D49FB9-62E6-4F26-AABC-3697A1CFC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If there exists any incoming edge to the initial state, then create a new initial state having no incoming edge to it.</a:t>
            </a:r>
          </a:p>
          <a:p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If there exists multiple final states in the DFA, then convert all the final states into non-final states and create a new single final state.</a:t>
            </a:r>
          </a:p>
          <a:p>
            <a:r>
              <a:rPr lang="en-US" b="0" i="0">
                <a:solidFill>
                  <a:srgbClr val="303030"/>
                </a:solidFill>
                <a:effectLst/>
                <a:latin typeface="Arimo"/>
              </a:rPr>
              <a:t>If there exists any outgoing edge from the final state, then create a new final state having no outgoing edge from it.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91119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5704B7-D5F3-4705-93C1-CD3A2EF39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DFA to 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40CAFA9-5726-492E-B02A-A7E2198AF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77CD993-3877-4BE1-854B-7EF2809CB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380" y="1869751"/>
            <a:ext cx="5153068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662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9E3C07-C851-370F-6CF8-82216711E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DFA to 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706AD4-A7EF-33B4-F776-62FFE31E2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4DE382F-277A-3089-2DD9-3F1A2B9F7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610" y="2160589"/>
            <a:ext cx="2568163" cy="12802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54A2EDE-AF5D-500E-B9DB-3BE639A64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159" y="3506848"/>
            <a:ext cx="2676460" cy="22435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5BCE7309-AF8F-CD9B-711B-CBF6EB59E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633" y="1591040"/>
            <a:ext cx="4018860" cy="51302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99638" y="2637693"/>
            <a:ext cx="2206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Replace R by R=QP*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35505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722796-50ED-5012-BE84-A5AF0D253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DFA to 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B60FDF3-E132-3FFE-9938-F52EED1F0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2DF4D99-1FF5-0030-5275-DE3E9893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069" y="2232310"/>
            <a:ext cx="2491956" cy="17146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AF8C94B-4471-CDB2-5913-B79ABFBD4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205" y="4018680"/>
            <a:ext cx="2954610" cy="22297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AA64CF2-E2A1-AB92-E9BE-F7ED3E9983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3852" y="816638"/>
            <a:ext cx="3158115" cy="57349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67976CC9-3647-42B3-3615-652CC4B2F8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0233" y="6551629"/>
            <a:ext cx="3642676" cy="2514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76646" y="1863970"/>
            <a:ext cx="2206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Replace R by R=QP*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76744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6729D3-C57B-FD75-001D-9D79995B4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DFA to RE 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DDED868-7E52-A2BB-BE46-6CA591FC1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D6DC742-F2B2-4CAB-FE75-3CCE65052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35" y="2160589"/>
            <a:ext cx="2476715" cy="1615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F9B1067-FF7E-F7CB-B0B0-86990BCB0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821" y="3920945"/>
            <a:ext cx="2476715" cy="16759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D8D68B0-250C-E17B-6C77-E8A68BAFD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934" y="542748"/>
            <a:ext cx="4321569" cy="61193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94130" y="1696916"/>
            <a:ext cx="2206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Replace R by R=QP*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05381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A52FC1-D52D-A58D-880D-F16A0EEFC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Minimization of DFA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EF11491-4826-156C-AE32-3C6443A69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B73D48F-5B60-4CC1-6DAF-D3BE9525B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930400"/>
            <a:ext cx="3543607" cy="31778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E7123855-FC73-8AB3-0175-D0B45A46D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5002735"/>
            <a:ext cx="5294819" cy="14262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551B0A53-3FCE-03BC-E3C5-C8A3F4315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0941" y="1478111"/>
            <a:ext cx="5502117" cy="39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87218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41F2B6-CD2A-EA48-B2A9-B3919A489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Minimization of DFA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10C007-0735-32EA-88ED-A67068AEA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59C14E1-7FC5-C728-F6EB-3D0C023DD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151" y="914182"/>
            <a:ext cx="2895851" cy="50296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8A6B8AF2-061C-6453-051F-2E7573689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2160589"/>
            <a:ext cx="2669181" cy="8408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BA6FC4B-D098-BD87-2A88-1B43F4006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73" y="3563718"/>
            <a:ext cx="6001886" cy="12816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8DE73273-A361-7C9B-0AF1-AB465403D2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32" y="1283754"/>
            <a:ext cx="2522439" cy="9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00814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9F2E34-5157-5847-13A0-B4E22153B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Minimization of DFA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D0C9918-0B3F-7B7F-39FB-DE1FDEC79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7C29092-7562-C526-0472-A215DAFAB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91" y="1367650"/>
            <a:ext cx="4067626" cy="20437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C70C56B-FA76-B364-7395-F9499DEB6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995" y="1969339"/>
            <a:ext cx="5218648" cy="31249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A99C1F62-F7D1-F5B7-7DF6-ACB00CD14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42" y="3429000"/>
            <a:ext cx="4553281" cy="297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47311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C4EC04-43A8-E686-AF9F-454AD7BAA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972F1DA-6F33-1AA8-49AC-32EB2C592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685741A-B776-D48A-13F9-FCA7CCB1C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327" y="354063"/>
            <a:ext cx="7095724" cy="641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89732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439603-ECC9-475E-ABCF-EEC25729F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NFA TO DFA CONVERSION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C26B0E1-272E-4032-930E-897C1E41CD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State diagram NFA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5C805578-4453-4C65-B0CC-6A1B2F9B71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Transition table NFA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4FA1F00-E8FF-4077-BC84-DEC6D848D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335111"/>
            <a:ext cx="4067175" cy="1885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FF21DC87-2C13-44B0-A06A-E0A92D545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693" y="3015582"/>
            <a:ext cx="5164601" cy="245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14890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24A9BC-8807-490F-B93F-3C36AA94E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NFA to DFA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F7F00C4-F80B-456F-8C93-EDC7BD6748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Transition Table DFA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19AECAA-4638-41FC-A47B-2D58AAFA005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State diagram DFA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9389087F-E845-4C43-A9C5-A8291E56A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883" y="2783484"/>
            <a:ext cx="4390539" cy="23920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85C238F-2902-4EC4-8248-F693EE8B7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874" y="2657937"/>
            <a:ext cx="4635964" cy="28860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F21DC87-2C13-44B0-A06A-E0A92D545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6578" y="0"/>
            <a:ext cx="5164601" cy="245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9839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2934E2-19F4-B957-8735-F3D8C732E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 to NFA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84972B6-8AA6-822A-3689-9EE30D459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561ED1A-0C4D-E1DB-DA07-13041D2BD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101" y="301658"/>
            <a:ext cx="5646656" cy="636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88383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6823</TotalTime>
  <Words>564</Words>
  <Application>Microsoft Office PowerPoint</Application>
  <PresentationFormat>Custom</PresentationFormat>
  <Paragraphs>94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Facet</vt:lpstr>
      <vt:lpstr>Compiler</vt:lpstr>
      <vt:lpstr>Context Sensitive Grammar</vt:lpstr>
      <vt:lpstr>CSG:Definition</vt:lpstr>
      <vt:lpstr>CSG:Example</vt:lpstr>
      <vt:lpstr>Regular Grammar/Linear Grammar</vt:lpstr>
      <vt:lpstr>Types of RG/LG</vt:lpstr>
      <vt:lpstr>Types of LG</vt:lpstr>
      <vt:lpstr>Left linear to Right Linear Regular Grammar </vt:lpstr>
      <vt:lpstr>Right linear to Left Linear Regular Grammar </vt:lpstr>
      <vt:lpstr>Useless Nonterminal</vt:lpstr>
      <vt:lpstr>DFA TO REGULAR EXPRESSION </vt:lpstr>
      <vt:lpstr>DFA to RE</vt:lpstr>
      <vt:lpstr>DFA to RE</vt:lpstr>
      <vt:lpstr>DFA to RE</vt:lpstr>
      <vt:lpstr>DFA to RE Example 3</vt:lpstr>
      <vt:lpstr>Minimization of DFA</vt:lpstr>
      <vt:lpstr>Minimization of DFA</vt:lpstr>
      <vt:lpstr>Minimization of DFA Example 2</vt:lpstr>
      <vt:lpstr>Slide 19</vt:lpstr>
      <vt:lpstr>NFA TO DFA CONVERSION</vt:lpstr>
      <vt:lpstr>NFA to DFA</vt:lpstr>
      <vt:lpstr>RE to NFA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</dc:title>
  <dc:creator>Lenovo</dc:creator>
  <cp:lastModifiedBy>Lenovo</cp:lastModifiedBy>
  <cp:revision>28</cp:revision>
  <dcterms:created xsi:type="dcterms:W3CDTF">2022-02-12T07:23:23Z</dcterms:created>
  <dcterms:modified xsi:type="dcterms:W3CDTF">2024-10-06T02:37:25Z</dcterms:modified>
</cp:coreProperties>
</file>